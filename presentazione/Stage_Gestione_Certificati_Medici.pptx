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55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22000"/>
          </a:blip>
          <a:stretch>
            <a:fillRect/>
          </a:stretch>
        </p:blipFill>
        <p:spPr>
          <a:xfrm>
            <a:off x="9692640" y="-1005840"/>
            <a:ext cx="3291840" cy="3291840"/>
          </a:xfrm>
          <a:prstGeom prst="rect">
            <a:avLst/>
          </a:prstGeom>
        </p:spPr>
      </p:pic>
      <p:sp>
        <p:nvSpPr>
          <p:cNvPr id="3" name="Shape 0"/>
          <p:cNvSpPr/>
          <p:nvPr/>
        </p:nvSpPr>
        <p:spPr>
          <a:xfrm>
            <a:off x="822960" y="822960"/>
            <a:ext cx="822960" cy="822960"/>
          </a:xfrm>
          <a:prstGeom prst="ellipse">
            <a:avLst/>
          </a:prstGeom>
          <a:solidFill>
            <a:srgbClr val="E2892F"/>
          </a:solidFill>
          <a:ln/>
        </p:spPr>
      </p:sp>
      <p:pic>
        <p:nvPicPr>
          <p:cNvPr id="4" name="Image 1" descr="preencoded.png">    </p:cNvPr>
          <p:cNvPicPr>
            <a:picLocks noChangeAspect="1"/>
          </p:cNvPicPr>
          <p:nvPr/>
        </p:nvPicPr>
        <p:blipFill>
          <a:blip r:embed="rId2"/>
          <a:stretch>
            <a:fillRect/>
          </a:stretch>
        </p:blipFill>
        <p:spPr>
          <a:xfrm>
            <a:off x="1036930" y="1036930"/>
            <a:ext cx="395021" cy="395021"/>
          </a:xfrm>
          <a:prstGeom prst="rect">
            <a:avLst/>
          </a:prstGeom>
        </p:spPr>
      </p:pic>
      <p:sp>
        <p:nvSpPr>
          <p:cNvPr id="5" name="Text 1"/>
          <p:cNvSpPr txBox="1"/>
          <p:nvPr/>
        </p:nvSpPr>
        <p:spPr>
          <a:xfrm>
            <a:off x="822960" y="2286000"/>
            <a:ext cx="98755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GESTIONE CERTIFICATI MEDICI</a:t>
            </a:r>
            <a:endParaRPr lang="en-US" sz="4000" dirty="0"/>
          </a:p>
        </p:txBody>
      </p:sp>
      <p:sp>
        <p:nvSpPr>
          <p:cNvPr id="6" name="Text 2"/>
          <p:cNvSpPr txBox="1"/>
          <p:nvPr/>
        </p:nvSpPr>
        <p:spPr>
          <a:xfrm>
            <a:off x="822960" y="3246120"/>
            <a:ext cx="9144000" cy="548640"/>
          </a:xfrm>
          <a:prstGeom prst="rect">
            <a:avLst/>
          </a:prstGeom>
          <a:noFill/>
          <a:ln/>
        </p:spPr>
        <p:txBody>
          <a:bodyPr wrap="square" lIns="0" tIns="0" rIns="0" bIns="0" rtlCol="0" anchor="ctr"/>
          <a:lstStyle/>
          <a:p>
            <a:pPr indent="0" marL="0">
              <a:buNone/>
            </a:pPr>
            <a:r>
              <a:rPr lang="en-US" sz="1800" dirty="0">
                <a:solidFill>
                  <a:srgbClr val="D9EAF0"/>
                </a:solidFill>
                <a:latin typeface="Calibri" pitchFamily="34" charset="0"/>
                <a:ea typeface="Calibri" pitchFamily="34" charset="-122"/>
                <a:cs typeface="Calibri" pitchFamily="34" charset="-120"/>
              </a:rPr>
              <a:t>Percorso di stage: dalla pianificazione del progetto alla pubblicazione del sito online</a:t>
            </a:r>
            <a:endParaRPr lang="en-US" sz="1800" dirty="0"/>
          </a:p>
        </p:txBody>
      </p:sp>
      <p:sp>
        <p:nvSpPr>
          <p:cNvPr id="7"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5677A"/>
                </a:solidFill>
                <a:latin typeface="Calibri" pitchFamily="34" charset="0"/>
                <a:ea typeface="Calibri" pitchFamily="34" charset="-122"/>
                <a:cs typeface="Calibri" pitchFamily="34" charset="-120"/>
              </a:rPr>
              <a:t>STAGE  ·  GESTIONE CERTIFICATI MEDICI</a:t>
            </a:r>
            <a:endParaRPr lang="en-US" sz="900" dirty="0"/>
          </a:p>
        </p:txBody>
      </p:sp>
      <p:sp>
        <p:nvSpPr>
          <p:cNvPr id="8" name="Text 4"/>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900" dirty="0">
                <a:solidFill>
                  <a:srgbClr val="5567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822960" y="502920"/>
            <a:ext cx="2651760" cy="329184"/>
          </a:xfrm>
          <a:prstGeom prst="roundRect">
            <a:avLst>
              <a:gd name="adj" fmla="val 50000"/>
            </a:avLst>
          </a:prstGeom>
          <a:solidFill>
            <a:srgbClr val="E2892F"/>
          </a:solidFill>
          <a:ln/>
        </p:spPr>
      </p:sp>
      <p:sp>
        <p:nvSpPr>
          <p:cNvPr id="3" name="Text 1"/>
          <p:cNvSpPr txBox="1"/>
          <p:nvPr/>
        </p:nvSpPr>
        <p:spPr>
          <a:xfrm>
            <a:off x="822960" y="502920"/>
            <a:ext cx="265176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PANORAMICA</a:t>
            </a:r>
            <a:endParaRPr lang="en-US" sz="1100" dirty="0"/>
          </a:p>
        </p:txBody>
      </p:sp>
      <p:sp>
        <p:nvSpPr>
          <p:cNvPr id="4" name="Text 2"/>
          <p:cNvSpPr txBox="1"/>
          <p:nvPr/>
        </p:nvSpPr>
        <p:spPr>
          <a:xfrm>
            <a:off x="822960" y="914400"/>
            <a:ext cx="10515600" cy="594360"/>
          </a:xfrm>
          <a:prstGeom prst="rect">
            <a:avLst/>
          </a:prstGeom>
          <a:noFill/>
          <a:ln/>
        </p:spPr>
        <p:txBody>
          <a:bodyPr wrap="square" lIns="0" tIns="0" rIns="0" bIns="0" rtlCol="0" anchor="ctr"/>
          <a:lstStyle/>
          <a:p>
            <a:pPr indent="0" marL="0">
              <a:buNone/>
            </a:pPr>
            <a:r>
              <a:rPr lang="en-US" sz="2800" b="1" dirty="0">
                <a:solidFill>
                  <a:srgbClr val="0B3556"/>
                </a:solidFill>
                <a:latin typeface="Cambria" pitchFamily="34" charset="0"/>
                <a:ea typeface="Cambria" pitchFamily="34" charset="-122"/>
                <a:cs typeface="Cambria" pitchFamily="34" charset="-120"/>
              </a:rPr>
              <a:t>Origine e obiettivo del progetto</a:t>
            </a:r>
            <a:endParaRPr lang="en-US" sz="2800" dirty="0"/>
          </a:p>
        </p:txBody>
      </p:sp>
      <p:sp>
        <p:nvSpPr>
          <p:cNvPr id="5" name="Text 3"/>
          <p:cNvSpPr txBox="1"/>
          <p:nvPr/>
        </p:nvSpPr>
        <p:spPr>
          <a:xfrm>
            <a:off x="822960" y="1691640"/>
            <a:ext cx="6492240" cy="2651760"/>
          </a:xfrm>
          <a:prstGeom prst="rect">
            <a:avLst/>
          </a:prstGeom>
          <a:noFill/>
          <a:ln/>
        </p:spPr>
        <p:txBody>
          <a:bodyPr wrap="square" lIns="0" tIns="0" rIns="0" bIns="0" rtlCol="0" anchor="t"/>
          <a:lstStyle/>
          <a:p>
            <a:pPr indent="0" marL="0">
              <a:lnSpc>
                <a:spcPct val="122000"/>
              </a:lnSpc>
              <a:buNone/>
            </a:pPr>
            <a:r>
              <a:rPr lang="en-US" sz="1250" dirty="0">
                <a:solidFill>
                  <a:srgbClr val="55677A"/>
                </a:solidFill>
                <a:latin typeface="Calibri" pitchFamily="34" charset="0"/>
                <a:ea typeface="Calibri" pitchFamily="34" charset="-122"/>
                <a:cs typeface="Calibri" pitchFamily="34" charset="-120"/>
              </a:rPr>
              <a:t>Il progetto Gestione Certificati Medici nasce per aiutare la squadra di basket dilettantistica in cui gioca il tutor aziendale a tenere sotto controllo, in modo semplice ed efficiente, i certificati medici dei giocatori, eliminando il rischio che una scadenza passi inosservata: il sistema controlla da solo le scadenze e avvisa per tempo chi deve caricare un nuovo certificato. Attorno a questa funzione principale ho realizzato un sito web completo per la gestione della società (squadre, giocatori, accesso riservato per ruolo), pensato fin dall’inizio come prima base su cui l’azienda potrà far crescere altri strumenti in futuro, senza doverla ricostruire da zero.</a:t>
            </a:r>
            <a:endParaRPr lang="en-US" sz="1250" dirty="0"/>
          </a:p>
        </p:txBody>
      </p:sp>
      <p:sp>
        <p:nvSpPr>
          <p:cNvPr id="6" name="Text 4"/>
          <p:cNvSpPr txBox="1"/>
          <p:nvPr/>
        </p:nvSpPr>
        <p:spPr>
          <a:xfrm>
            <a:off x="822960" y="4480560"/>
            <a:ext cx="6492240" cy="1737360"/>
          </a:xfrm>
          <a:prstGeom prst="rect">
            <a:avLst/>
          </a:prstGeom>
          <a:noFill/>
          <a:ln/>
        </p:spPr>
        <p:txBody>
          <a:bodyPr wrap="square" lIns="0" tIns="0" rIns="0" bIns="0" rtlCol="0" anchor="t"/>
          <a:lstStyle/>
          <a:p>
            <a:pPr indent="0" marL="0">
              <a:lnSpc>
                <a:spcPct val="122000"/>
              </a:lnSpc>
              <a:buNone/>
            </a:pPr>
            <a:r>
              <a:rPr lang="en-US" sz="1250" dirty="0">
                <a:solidFill>
                  <a:srgbClr val="55677A"/>
                </a:solidFill>
                <a:latin typeface="Calibri" pitchFamily="34" charset="0"/>
                <a:ea typeface="Calibri" pitchFamily="34" charset="-122"/>
                <a:cs typeface="Calibri" pitchFamily="34" charset="-120"/>
              </a:rPr>
              <a:t>Ho pianificato tutto scrivendo una relazione, prima ancora di scrivere una riga di codice: è da questo bisogno concreto — non perdere più la scadenza di un certificato medico — che è partita l’idea del progetto.</a:t>
            </a:r>
            <a:endParaRPr lang="en-US" sz="1250" dirty="0"/>
          </a:p>
        </p:txBody>
      </p:sp>
      <p:sp>
        <p:nvSpPr>
          <p:cNvPr id="7" name="Shape 5"/>
          <p:cNvSpPr/>
          <p:nvPr/>
        </p:nvSpPr>
        <p:spPr>
          <a:xfrm>
            <a:off x="7635240" y="1691640"/>
            <a:ext cx="3703320" cy="4617720"/>
          </a:xfrm>
          <a:prstGeom prst="roundRect">
            <a:avLst>
              <a:gd name="adj" fmla="val 2963"/>
            </a:avLst>
          </a:prstGeom>
          <a:solidFill>
            <a:srgbClr val="0B3556"/>
          </a:solidFill>
          <a:ln/>
        </p:spPr>
      </p:sp>
      <p:sp>
        <p:nvSpPr>
          <p:cNvPr id="8" name="Text 6"/>
          <p:cNvSpPr txBox="1"/>
          <p:nvPr/>
        </p:nvSpPr>
        <p:spPr>
          <a:xfrm>
            <a:off x="7955280" y="1965960"/>
            <a:ext cx="3063240" cy="320040"/>
          </a:xfrm>
          <a:prstGeom prst="rect">
            <a:avLst/>
          </a:prstGeom>
          <a:noFill/>
          <a:ln/>
        </p:spPr>
        <p:txBody>
          <a:bodyPr wrap="square" lIns="0" tIns="0" rIns="0" bIns="0" rtlCol="0" anchor="ctr"/>
          <a:lstStyle/>
          <a:p>
            <a:pPr indent="0" marL="0">
              <a:buNone/>
            </a:pPr>
            <a:r>
              <a:rPr lang="en-US" sz="1050" b="1" spc="100" kern="0" dirty="0">
                <a:solidFill>
                  <a:srgbClr val="E2892F"/>
                </a:solidFill>
                <a:latin typeface="Calibri" pitchFamily="34" charset="0"/>
                <a:ea typeface="Calibri" pitchFamily="34" charset="-122"/>
                <a:cs typeface="Calibri" pitchFamily="34" charset="-120"/>
              </a:rPr>
              <a:t>IN QUESTA PRESENTAZIONE</a:t>
            </a:r>
            <a:endParaRPr lang="en-US" sz="1050" dirty="0"/>
          </a:p>
        </p:txBody>
      </p:sp>
      <p:sp>
        <p:nvSpPr>
          <p:cNvPr id="9" name="Shape 7"/>
          <p:cNvSpPr/>
          <p:nvPr/>
        </p:nvSpPr>
        <p:spPr>
          <a:xfrm>
            <a:off x="7955280" y="2514600"/>
            <a:ext cx="457200" cy="457200"/>
          </a:xfrm>
          <a:prstGeom prst="ellipse">
            <a:avLst/>
          </a:prstGeom>
          <a:solidFill>
            <a:srgbClr val="072438"/>
          </a:solidFill>
          <a:ln/>
        </p:spPr>
      </p:sp>
      <p:pic>
        <p:nvPicPr>
          <p:cNvPr id="10" name="Image 0" descr="preencoded.png">    </p:cNvPr>
          <p:cNvPicPr>
            <a:picLocks noChangeAspect="1"/>
          </p:cNvPicPr>
          <p:nvPr/>
        </p:nvPicPr>
        <p:blipFill>
          <a:blip r:embed="rId1"/>
          <a:stretch>
            <a:fillRect/>
          </a:stretch>
        </p:blipFill>
        <p:spPr>
          <a:xfrm>
            <a:off x="8074152" y="2633472"/>
            <a:ext cx="219456" cy="219456"/>
          </a:xfrm>
          <a:prstGeom prst="rect">
            <a:avLst/>
          </a:prstGeom>
        </p:spPr>
      </p:pic>
      <p:sp>
        <p:nvSpPr>
          <p:cNvPr id="11" name="Text 8"/>
          <p:cNvSpPr txBox="1"/>
          <p:nvPr/>
        </p:nvSpPr>
        <p:spPr>
          <a:xfrm>
            <a:off x="8595360" y="2514600"/>
            <a:ext cx="2468880" cy="457200"/>
          </a:xfrm>
          <a:prstGeom prst="rect">
            <a:avLst/>
          </a:prstGeom>
          <a:noFill/>
          <a:ln/>
        </p:spPr>
        <p:txBody>
          <a:bodyPr wrap="square" lIns="0" tIns="0" rIns="0" bIns="0" rtlCol="0" anchor="ctr"/>
          <a:lstStyle/>
          <a:p>
            <a:pPr indent="0" marL="0">
              <a:buNone/>
            </a:pPr>
            <a:r>
              <a:rPr lang="en-US" sz="1300" dirty="0">
                <a:solidFill>
                  <a:srgbClr val="D9EAF0"/>
                </a:solidFill>
                <a:latin typeface="Calibri" pitchFamily="34" charset="0"/>
                <a:ea typeface="Calibri" pitchFamily="34" charset="-122"/>
                <a:cs typeface="Calibri" pitchFamily="34" charset="-120"/>
              </a:rPr>
              <a:t>Pianificazione e obiettivi</a:t>
            </a:r>
            <a:endParaRPr lang="en-US" sz="1300" dirty="0"/>
          </a:p>
        </p:txBody>
      </p:sp>
      <p:sp>
        <p:nvSpPr>
          <p:cNvPr id="12" name="Shape 9"/>
          <p:cNvSpPr/>
          <p:nvPr/>
        </p:nvSpPr>
        <p:spPr>
          <a:xfrm>
            <a:off x="7955280" y="3383280"/>
            <a:ext cx="457200" cy="457200"/>
          </a:xfrm>
          <a:prstGeom prst="ellipse">
            <a:avLst/>
          </a:prstGeom>
          <a:solidFill>
            <a:srgbClr val="072438"/>
          </a:solidFill>
          <a:ln/>
        </p:spPr>
      </p:sp>
      <p:pic>
        <p:nvPicPr>
          <p:cNvPr id="13" name="Image 1" descr="preencoded.png">    </p:cNvPr>
          <p:cNvPicPr>
            <a:picLocks noChangeAspect="1"/>
          </p:cNvPicPr>
          <p:nvPr/>
        </p:nvPicPr>
        <p:blipFill>
          <a:blip r:embed="rId2"/>
          <a:stretch>
            <a:fillRect/>
          </a:stretch>
        </p:blipFill>
        <p:spPr>
          <a:xfrm>
            <a:off x="8074152" y="3502152"/>
            <a:ext cx="219456" cy="219456"/>
          </a:xfrm>
          <a:prstGeom prst="rect">
            <a:avLst/>
          </a:prstGeom>
        </p:spPr>
      </p:pic>
      <p:sp>
        <p:nvSpPr>
          <p:cNvPr id="14" name="Text 10"/>
          <p:cNvSpPr txBox="1"/>
          <p:nvPr/>
        </p:nvSpPr>
        <p:spPr>
          <a:xfrm>
            <a:off x="8595360" y="3383280"/>
            <a:ext cx="2468880" cy="457200"/>
          </a:xfrm>
          <a:prstGeom prst="rect">
            <a:avLst/>
          </a:prstGeom>
          <a:noFill/>
          <a:ln/>
        </p:spPr>
        <p:txBody>
          <a:bodyPr wrap="square" lIns="0" tIns="0" rIns="0" bIns="0" rtlCol="0" anchor="ctr"/>
          <a:lstStyle/>
          <a:p>
            <a:pPr indent="0" marL="0">
              <a:buNone/>
            </a:pPr>
            <a:r>
              <a:rPr lang="en-US" sz="1300" dirty="0">
                <a:solidFill>
                  <a:srgbClr val="D9EAF0"/>
                </a:solidFill>
                <a:latin typeface="Calibri" pitchFamily="34" charset="0"/>
                <a:ea typeface="Calibri" pitchFamily="34" charset="-122"/>
                <a:cs typeface="Calibri" pitchFamily="34" charset="-120"/>
              </a:rPr>
              <a:t>Specifiche tecniche</a:t>
            </a:r>
            <a:endParaRPr lang="en-US" sz="1300" dirty="0"/>
          </a:p>
        </p:txBody>
      </p:sp>
      <p:sp>
        <p:nvSpPr>
          <p:cNvPr id="15" name="Shape 11"/>
          <p:cNvSpPr/>
          <p:nvPr/>
        </p:nvSpPr>
        <p:spPr>
          <a:xfrm>
            <a:off x="7955280" y="4251960"/>
            <a:ext cx="457200" cy="457200"/>
          </a:xfrm>
          <a:prstGeom prst="ellipse">
            <a:avLst/>
          </a:prstGeom>
          <a:solidFill>
            <a:srgbClr val="072438"/>
          </a:solidFill>
          <a:ln/>
        </p:spPr>
      </p:sp>
      <p:pic>
        <p:nvPicPr>
          <p:cNvPr id="16" name="Image 2" descr="preencoded.png">    </p:cNvPr>
          <p:cNvPicPr>
            <a:picLocks noChangeAspect="1"/>
          </p:cNvPicPr>
          <p:nvPr/>
        </p:nvPicPr>
        <p:blipFill>
          <a:blip r:embed="rId3"/>
          <a:stretch>
            <a:fillRect/>
          </a:stretch>
        </p:blipFill>
        <p:spPr>
          <a:xfrm>
            <a:off x="8074152" y="4370832"/>
            <a:ext cx="219456" cy="219456"/>
          </a:xfrm>
          <a:prstGeom prst="rect">
            <a:avLst/>
          </a:prstGeom>
        </p:spPr>
      </p:pic>
      <p:sp>
        <p:nvSpPr>
          <p:cNvPr id="17" name="Text 12"/>
          <p:cNvSpPr txBox="1"/>
          <p:nvPr/>
        </p:nvSpPr>
        <p:spPr>
          <a:xfrm>
            <a:off x="8595360" y="4251960"/>
            <a:ext cx="2468880" cy="457200"/>
          </a:xfrm>
          <a:prstGeom prst="rect">
            <a:avLst/>
          </a:prstGeom>
          <a:noFill/>
          <a:ln/>
        </p:spPr>
        <p:txBody>
          <a:bodyPr wrap="square" lIns="0" tIns="0" rIns="0" bIns="0" rtlCol="0" anchor="ctr"/>
          <a:lstStyle/>
          <a:p>
            <a:pPr indent="0" marL="0">
              <a:buNone/>
            </a:pPr>
            <a:r>
              <a:rPr lang="en-US" sz="1300" dirty="0">
                <a:solidFill>
                  <a:srgbClr val="D9EAF0"/>
                </a:solidFill>
                <a:latin typeface="Calibri" pitchFamily="34" charset="0"/>
                <a:ea typeface="Calibri" pitchFamily="34" charset="-122"/>
                <a:cs typeface="Calibri" pitchFamily="34" charset="-120"/>
              </a:rPr>
              <a:t>Fasi di sviluppo</a:t>
            </a:r>
            <a:endParaRPr lang="en-US" sz="1300" dirty="0"/>
          </a:p>
        </p:txBody>
      </p:sp>
      <p:sp>
        <p:nvSpPr>
          <p:cNvPr id="18" name="Shape 13"/>
          <p:cNvSpPr/>
          <p:nvPr/>
        </p:nvSpPr>
        <p:spPr>
          <a:xfrm>
            <a:off x="7955280" y="5120640"/>
            <a:ext cx="457200" cy="457200"/>
          </a:xfrm>
          <a:prstGeom prst="ellipse">
            <a:avLst/>
          </a:prstGeom>
          <a:solidFill>
            <a:srgbClr val="072438"/>
          </a:solidFill>
          <a:ln/>
        </p:spPr>
      </p:sp>
      <p:pic>
        <p:nvPicPr>
          <p:cNvPr id="19" name="Image 3" descr="preencoded.png">    </p:cNvPr>
          <p:cNvPicPr>
            <a:picLocks noChangeAspect="1"/>
          </p:cNvPicPr>
          <p:nvPr/>
        </p:nvPicPr>
        <p:blipFill>
          <a:blip r:embed="rId4"/>
          <a:stretch>
            <a:fillRect/>
          </a:stretch>
        </p:blipFill>
        <p:spPr>
          <a:xfrm>
            <a:off x="8074152" y="5239512"/>
            <a:ext cx="219456" cy="219456"/>
          </a:xfrm>
          <a:prstGeom prst="rect">
            <a:avLst/>
          </a:prstGeom>
        </p:spPr>
      </p:pic>
      <p:sp>
        <p:nvSpPr>
          <p:cNvPr id="20" name="Text 14"/>
          <p:cNvSpPr txBox="1"/>
          <p:nvPr/>
        </p:nvSpPr>
        <p:spPr>
          <a:xfrm>
            <a:off x="8595360" y="5120640"/>
            <a:ext cx="2468880" cy="457200"/>
          </a:xfrm>
          <a:prstGeom prst="rect">
            <a:avLst/>
          </a:prstGeom>
          <a:noFill/>
          <a:ln/>
        </p:spPr>
        <p:txBody>
          <a:bodyPr wrap="square" lIns="0" tIns="0" rIns="0" bIns="0" rtlCol="0" anchor="ctr"/>
          <a:lstStyle/>
          <a:p>
            <a:pPr indent="0" marL="0">
              <a:buNone/>
            </a:pPr>
            <a:r>
              <a:rPr lang="en-US" sz="1300" dirty="0">
                <a:solidFill>
                  <a:srgbClr val="D9EAF0"/>
                </a:solidFill>
                <a:latin typeface="Calibri" pitchFamily="34" charset="0"/>
                <a:ea typeface="Calibri" pitchFamily="34" charset="-122"/>
                <a:cs typeface="Calibri" pitchFamily="34" charset="-120"/>
              </a:rPr>
              <a:t>Risultato finale</a:t>
            </a:r>
            <a:endParaRPr lang="en-US" sz="1300" dirty="0"/>
          </a:p>
        </p:txBody>
      </p:sp>
      <p:sp>
        <p:nvSpPr>
          <p:cNvPr id="21" name="Text 1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5677A"/>
                </a:solidFill>
                <a:latin typeface="Calibri" pitchFamily="34" charset="0"/>
                <a:ea typeface="Calibri" pitchFamily="34" charset="-122"/>
                <a:cs typeface="Calibri" pitchFamily="34" charset="-120"/>
              </a:rPr>
              <a:t>STAGE  ·  GESTIONE CERTIFICATI MEDICI</a:t>
            </a:r>
            <a:endParaRPr lang="en-US" sz="900" dirty="0"/>
          </a:p>
        </p:txBody>
      </p:sp>
      <p:sp>
        <p:nvSpPr>
          <p:cNvPr id="22" name="Text 16"/>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900" dirty="0">
                <a:solidFill>
                  <a:srgbClr val="5567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822960" y="502920"/>
            <a:ext cx="4407408" cy="329184"/>
          </a:xfrm>
          <a:prstGeom prst="roundRect">
            <a:avLst>
              <a:gd name="adj" fmla="val 50000"/>
            </a:avLst>
          </a:prstGeom>
          <a:solidFill>
            <a:srgbClr val="E2892F"/>
          </a:solidFill>
          <a:ln/>
        </p:spPr>
      </p:sp>
      <p:sp>
        <p:nvSpPr>
          <p:cNvPr id="3" name="Text 1"/>
          <p:cNvSpPr txBox="1"/>
          <p:nvPr/>
        </p:nvSpPr>
        <p:spPr>
          <a:xfrm>
            <a:off x="822960" y="502920"/>
            <a:ext cx="4407408"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RELAZIONE INIZIALE</a:t>
            </a:r>
            <a:endParaRPr lang="en-US" sz="1100" dirty="0"/>
          </a:p>
        </p:txBody>
      </p:sp>
      <p:sp>
        <p:nvSpPr>
          <p:cNvPr id="4" name="Text 2"/>
          <p:cNvSpPr txBox="1"/>
          <p:nvPr/>
        </p:nvSpPr>
        <p:spPr>
          <a:xfrm>
            <a:off x="822960" y="914400"/>
            <a:ext cx="10515600" cy="594360"/>
          </a:xfrm>
          <a:prstGeom prst="rect">
            <a:avLst/>
          </a:prstGeom>
          <a:noFill/>
          <a:ln/>
        </p:spPr>
        <p:txBody>
          <a:bodyPr wrap="square" lIns="0" tIns="0" rIns="0" bIns="0" rtlCol="0" anchor="ctr"/>
          <a:lstStyle/>
          <a:p>
            <a:pPr indent="0" marL="0">
              <a:buNone/>
            </a:pPr>
            <a:r>
              <a:rPr lang="en-US" sz="2800" b="1" dirty="0">
                <a:solidFill>
                  <a:srgbClr val="0B3556"/>
                </a:solidFill>
                <a:latin typeface="Cambria" pitchFamily="34" charset="0"/>
                <a:ea typeface="Cambria" pitchFamily="34" charset="-122"/>
                <a:cs typeface="Cambria" pitchFamily="34" charset="-120"/>
              </a:rPr>
              <a:t>Gli obiettivi del progetto</a:t>
            </a:r>
            <a:endParaRPr lang="en-US" sz="2800" dirty="0"/>
          </a:p>
        </p:txBody>
      </p:sp>
      <p:sp>
        <p:nvSpPr>
          <p:cNvPr id="5" name="Text 3"/>
          <p:cNvSpPr txBox="1"/>
          <p:nvPr/>
        </p:nvSpPr>
        <p:spPr>
          <a:xfrm>
            <a:off x="822960" y="1481328"/>
            <a:ext cx="10515600" cy="365760"/>
          </a:xfrm>
          <a:prstGeom prst="rect">
            <a:avLst/>
          </a:prstGeom>
          <a:noFill/>
          <a:ln/>
        </p:spPr>
        <p:txBody>
          <a:bodyPr wrap="square" lIns="0" tIns="0" rIns="0" bIns="0" rtlCol="0" anchor="ctr"/>
          <a:lstStyle/>
          <a:p>
            <a:pPr indent="0" marL="0">
              <a:lnSpc>
                <a:spcPct val="115000"/>
              </a:lnSpc>
              <a:buNone/>
            </a:pPr>
            <a:r>
              <a:rPr lang="en-US" sz="1250" dirty="0">
                <a:solidFill>
                  <a:srgbClr val="55677A"/>
                </a:solidFill>
                <a:latin typeface="Calibri" pitchFamily="34" charset="0"/>
                <a:ea typeface="Calibri" pitchFamily="34" charset="-122"/>
                <a:cs typeface="Calibri" pitchFamily="34" charset="-120"/>
              </a:rPr>
              <a:t>Questi obiettivi sono quelli fissati nella relazione scritta a inizio stage, prima di cominciare a lavorare.</a:t>
            </a:r>
            <a:endParaRPr lang="en-US" sz="1250" dirty="0"/>
          </a:p>
        </p:txBody>
      </p:sp>
      <p:sp>
        <p:nvSpPr>
          <p:cNvPr id="6" name="Shape 4"/>
          <p:cNvSpPr/>
          <p:nvPr/>
        </p:nvSpPr>
        <p:spPr>
          <a:xfrm>
            <a:off x="822960" y="1965960"/>
            <a:ext cx="10543032" cy="2651760"/>
          </a:xfrm>
          <a:prstGeom prst="roundRect">
            <a:avLst>
              <a:gd name="adj" fmla="val 4138"/>
            </a:avLst>
          </a:prstGeom>
          <a:solidFill>
            <a:srgbClr val="FFFFFF"/>
          </a:solidFill>
          <a:ln/>
          <a:effectLst>
            <a:outerShdw sx="100000" sy="100000" kx="0" ky="0" algn="bl" rotWithShape="0" blurRad="101600" dist="38100" dir="5400000">
              <a:srgbClr val="0B3556">
                <a:alpha val="12000"/>
              </a:srgbClr>
            </a:outerShdw>
          </a:effectLst>
        </p:spPr>
      </p:sp>
      <p:sp>
        <p:nvSpPr>
          <p:cNvPr id="7" name="Text 5"/>
          <p:cNvSpPr txBox="1"/>
          <p:nvPr/>
        </p:nvSpPr>
        <p:spPr>
          <a:xfrm>
            <a:off x="1097280" y="2167128"/>
            <a:ext cx="1051560" cy="640080"/>
          </a:xfrm>
          <a:prstGeom prst="rect">
            <a:avLst/>
          </a:prstGeom>
          <a:noFill/>
          <a:ln/>
        </p:spPr>
        <p:txBody>
          <a:bodyPr wrap="square" lIns="0" tIns="0" rIns="0" bIns="0" rtlCol="0" anchor="ctr"/>
          <a:lstStyle/>
          <a:p>
            <a:pPr indent="0" marL="0">
              <a:buNone/>
            </a:pPr>
            <a:r>
              <a:rPr lang="en-US" sz="3600" b="1" dirty="0">
                <a:solidFill>
                  <a:srgbClr val="E2892F"/>
                </a:solidFill>
                <a:latin typeface="Cambria" pitchFamily="34" charset="0"/>
                <a:ea typeface="Cambria" pitchFamily="34" charset="-122"/>
                <a:cs typeface="Cambria" pitchFamily="34" charset="-120"/>
              </a:rPr>
              <a:t>03</a:t>
            </a:r>
            <a:endParaRPr lang="en-US" sz="3600" dirty="0"/>
          </a:p>
        </p:txBody>
      </p:sp>
      <p:sp>
        <p:nvSpPr>
          <p:cNvPr id="8" name="Text 6"/>
          <p:cNvSpPr txBox="1"/>
          <p:nvPr/>
        </p:nvSpPr>
        <p:spPr>
          <a:xfrm>
            <a:off x="2057400" y="2185416"/>
            <a:ext cx="9052560" cy="621792"/>
          </a:xfrm>
          <a:prstGeom prst="rect">
            <a:avLst/>
          </a:prstGeom>
          <a:noFill/>
          <a:ln/>
        </p:spPr>
        <p:txBody>
          <a:bodyPr wrap="square" lIns="0" tIns="0" rIns="0" bIns="0" rtlCol="0" anchor="t"/>
          <a:lstStyle/>
          <a:p>
            <a:pPr indent="0" marL="0">
              <a:lnSpc>
                <a:spcPct val="110000"/>
              </a:lnSpc>
              <a:buNone/>
            </a:pPr>
            <a:r>
              <a:rPr lang="en-US" sz="1550" b="1" dirty="0">
                <a:solidFill>
                  <a:srgbClr val="0B3556"/>
                </a:solidFill>
                <a:latin typeface="Cambria" pitchFamily="34" charset="0"/>
                <a:ea typeface="Cambria" pitchFamily="34" charset="-122"/>
                <a:cs typeface="Cambria" pitchFamily="34" charset="-120"/>
              </a:rPr>
              <a:t>Automatizzare il controllo delle scadenze dei certificati medici, avvisando quando un certificato sta per scadere.</a:t>
            </a:r>
            <a:endParaRPr lang="en-US" sz="1550" dirty="0"/>
          </a:p>
        </p:txBody>
      </p:sp>
      <p:sp>
        <p:nvSpPr>
          <p:cNvPr id="9" name="Text 7"/>
          <p:cNvSpPr txBox="1"/>
          <p:nvPr/>
        </p:nvSpPr>
        <p:spPr>
          <a:xfrm>
            <a:off x="2057400" y="2926080"/>
            <a:ext cx="4297680" cy="1645920"/>
          </a:xfrm>
          <a:prstGeom prst="rect">
            <a:avLst/>
          </a:prstGeom>
          <a:noFill/>
          <a:ln/>
        </p:spPr>
        <p:txBody>
          <a:bodyPr wrap="square" lIns="0" tIns="0" rIns="0" bIns="0" rtlCol="0" anchor="t"/>
          <a:lstStyle/>
          <a:p>
            <a:pPr marL="342900" indent="-342900">
              <a:lnSpc>
                <a:spcPct val="114000"/>
              </a:lnSpc>
              <a:spcAft>
                <a:spcPts val="1000"/>
              </a:spcAft>
              <a:buSzPct val="100000"/>
              <a:buChar char="✓"/>
            </a:pPr>
            <a:r>
              <a:rPr lang="en-US" sz="1050" dirty="0">
                <a:solidFill>
                  <a:srgbClr val="55677A"/>
                </a:solidFill>
                <a:latin typeface="Calibri" pitchFamily="34" charset="0"/>
                <a:ea typeface="Calibri" pitchFamily="34" charset="-122"/>
                <a:cs typeface="Calibri" pitchFamily="34" charset="-120"/>
              </a:rPr>
              <a:t>Controllare a intervalli regolari lo stato di ogni certificato medico.</a:t>
            </a:r>
            <a:endParaRPr lang="en-US" sz="1050" dirty="0"/>
          </a:p>
          <a:p>
            <a:pPr marL="342900" indent="-342900">
              <a:lnSpc>
                <a:spcPct val="114000"/>
              </a:lnSpc>
              <a:spcAft>
                <a:spcPts val="1000"/>
              </a:spcAft>
              <a:buSzPct val="100000"/>
              <a:buChar char="✓"/>
            </a:pPr>
            <a:r>
              <a:rPr lang="en-US" sz="1050" dirty="0">
                <a:solidFill>
                  <a:srgbClr val="55677A"/>
                </a:solidFill>
                <a:latin typeface="Calibri" pitchFamily="34" charset="0"/>
                <a:ea typeface="Calibri" pitchFamily="34" charset="-122"/>
                <a:cs typeface="Calibri" pitchFamily="34" charset="-120"/>
              </a:rPr>
              <a:t>Inviare un’email di avviso quando un certificato risulta scaduto.</a:t>
            </a:r>
            <a:endParaRPr lang="en-US" sz="1050" dirty="0"/>
          </a:p>
          <a:p>
            <a:pPr marL="342900" indent="-342900">
              <a:lnSpc>
                <a:spcPct val="114000"/>
              </a:lnSpc>
              <a:buSzPct val="100000"/>
              <a:buChar char="✓"/>
            </a:pPr>
            <a:r>
              <a:rPr lang="en-US" sz="1050" dirty="0">
                <a:solidFill>
                  <a:srgbClr val="55677A"/>
                </a:solidFill>
                <a:latin typeface="Calibri" pitchFamily="34" charset="0"/>
                <a:ea typeface="Calibri" pitchFamily="34" charset="-122"/>
                <a:cs typeface="Calibri" pitchFamily="34" charset="-120"/>
              </a:rPr>
              <a:t>Decidere quale indirizzo email usare per inviare gli avvisi.</a:t>
            </a:r>
            <a:endParaRPr lang="en-US" sz="1050" dirty="0"/>
          </a:p>
        </p:txBody>
      </p:sp>
      <p:sp>
        <p:nvSpPr>
          <p:cNvPr id="10" name="Text 8"/>
          <p:cNvSpPr txBox="1"/>
          <p:nvPr/>
        </p:nvSpPr>
        <p:spPr>
          <a:xfrm>
            <a:off x="6629400" y="2926080"/>
            <a:ext cx="4160520" cy="1645920"/>
          </a:xfrm>
          <a:prstGeom prst="rect">
            <a:avLst/>
          </a:prstGeom>
          <a:noFill/>
          <a:ln/>
        </p:spPr>
        <p:txBody>
          <a:bodyPr wrap="square" lIns="0" tIns="0" rIns="0" bIns="0" rtlCol="0" anchor="t"/>
          <a:lstStyle/>
          <a:p>
            <a:pPr marL="342900" indent="-342900">
              <a:lnSpc>
                <a:spcPct val="114000"/>
              </a:lnSpc>
              <a:spcAft>
                <a:spcPts val="1000"/>
              </a:spcAft>
              <a:buSzPct val="100000"/>
              <a:buChar char="✓"/>
            </a:pPr>
            <a:r>
              <a:rPr lang="en-US" sz="1050" dirty="0">
                <a:solidFill>
                  <a:srgbClr val="55677A"/>
                </a:solidFill>
                <a:latin typeface="Calibri" pitchFamily="34" charset="0"/>
                <a:ea typeface="Calibri" pitchFamily="34" charset="-122"/>
                <a:cs typeface="Calibri" pitchFamily="34" charset="-120"/>
              </a:rPr>
              <a:t>Permettere ai giocatori di caricare il proprio certificato medico, ma solo dopo aver ricevuto l’avviso di scadenza.</a:t>
            </a:r>
            <a:endParaRPr lang="en-US" sz="1050" dirty="0"/>
          </a:p>
          <a:p>
            <a:pPr marL="342900" indent="-342900">
              <a:lnSpc>
                <a:spcPct val="114000"/>
              </a:lnSpc>
              <a:buSzPct val="100000"/>
              <a:buChar char="✓"/>
            </a:pPr>
            <a:r>
              <a:rPr lang="en-US" sz="1050" dirty="0">
                <a:solidFill>
                  <a:srgbClr val="55677A"/>
                </a:solidFill>
                <a:latin typeface="Calibri" pitchFamily="34" charset="0"/>
                <a:ea typeface="Calibri" pitchFamily="34" charset="-122"/>
                <a:cs typeface="Calibri" pitchFamily="34" charset="-120"/>
              </a:rPr>
              <a:t>Permettere all’Admin di controllare i certificati caricati e di approvarli o scartarli.</a:t>
            </a:r>
            <a:endParaRPr lang="en-US" sz="1050" dirty="0"/>
          </a:p>
        </p:txBody>
      </p:sp>
      <p:sp>
        <p:nvSpPr>
          <p:cNvPr id="11" name="Shape 9"/>
          <p:cNvSpPr/>
          <p:nvPr/>
        </p:nvSpPr>
        <p:spPr>
          <a:xfrm>
            <a:off x="822960" y="4800600"/>
            <a:ext cx="3364992" cy="1234440"/>
          </a:xfrm>
          <a:prstGeom prst="roundRect">
            <a:avLst>
              <a:gd name="adj" fmla="val 7407"/>
            </a:avLst>
          </a:prstGeom>
          <a:solidFill>
            <a:srgbClr val="FFFFFF"/>
          </a:solidFill>
          <a:ln/>
          <a:effectLst>
            <a:outerShdw sx="100000" sy="100000" kx="0" ky="0" algn="bl" rotWithShape="0" blurRad="76200" dist="25400" dir="5400000">
              <a:srgbClr val="0B3556">
                <a:alpha val="10000"/>
              </a:srgbClr>
            </a:outerShdw>
          </a:effectLst>
        </p:spPr>
      </p:sp>
      <p:sp>
        <p:nvSpPr>
          <p:cNvPr id="12" name="Text 10"/>
          <p:cNvSpPr txBox="1"/>
          <p:nvPr/>
        </p:nvSpPr>
        <p:spPr>
          <a:xfrm>
            <a:off x="1024128" y="4928616"/>
            <a:ext cx="731520" cy="411480"/>
          </a:xfrm>
          <a:prstGeom prst="rect">
            <a:avLst/>
          </a:prstGeom>
          <a:noFill/>
          <a:ln/>
        </p:spPr>
        <p:txBody>
          <a:bodyPr wrap="square" lIns="0" tIns="0" rIns="0" bIns="0" rtlCol="0" anchor="ctr"/>
          <a:lstStyle/>
          <a:p>
            <a:pPr indent="0" marL="0">
              <a:buNone/>
            </a:pPr>
            <a:r>
              <a:rPr lang="en-US" sz="2000" b="1" dirty="0">
                <a:solidFill>
                  <a:srgbClr val="E2892F"/>
                </a:solidFill>
                <a:latin typeface="Cambria" pitchFamily="34" charset="0"/>
                <a:ea typeface="Cambria" pitchFamily="34" charset="-122"/>
                <a:cs typeface="Cambria" pitchFamily="34" charset="-120"/>
              </a:rPr>
              <a:t>01</a:t>
            </a:r>
            <a:endParaRPr lang="en-US" sz="2000" dirty="0"/>
          </a:p>
        </p:txBody>
      </p:sp>
      <p:sp>
        <p:nvSpPr>
          <p:cNvPr id="13" name="Text 11"/>
          <p:cNvSpPr txBox="1"/>
          <p:nvPr/>
        </p:nvSpPr>
        <p:spPr>
          <a:xfrm>
            <a:off x="1691640" y="4946904"/>
            <a:ext cx="2313432" cy="365760"/>
          </a:xfrm>
          <a:prstGeom prst="rect">
            <a:avLst/>
          </a:prstGeom>
          <a:noFill/>
          <a:ln/>
        </p:spPr>
        <p:txBody>
          <a:bodyPr wrap="square" lIns="0" tIns="0" rIns="0" bIns="0" rtlCol="0" anchor="t"/>
          <a:lstStyle/>
          <a:p>
            <a:pPr indent="0" marL="0">
              <a:buNone/>
            </a:pPr>
            <a:r>
              <a:rPr lang="en-US" sz="1250" b="1" dirty="0">
                <a:solidFill>
                  <a:srgbClr val="0B3556"/>
                </a:solidFill>
                <a:latin typeface="Cambria" pitchFamily="34" charset="0"/>
                <a:ea typeface="Cambria" pitchFamily="34" charset="-122"/>
                <a:cs typeface="Cambria" pitchFamily="34" charset="-120"/>
              </a:rPr>
              <a:t>Un database solido</a:t>
            </a:r>
            <a:endParaRPr lang="en-US" sz="1250" dirty="0"/>
          </a:p>
        </p:txBody>
      </p:sp>
      <p:sp>
        <p:nvSpPr>
          <p:cNvPr id="14" name="Text 12"/>
          <p:cNvSpPr txBox="1"/>
          <p:nvPr/>
        </p:nvSpPr>
        <p:spPr>
          <a:xfrm>
            <a:off x="1024128" y="5330952"/>
            <a:ext cx="2962656" cy="594360"/>
          </a:xfrm>
          <a:prstGeom prst="rect">
            <a:avLst/>
          </a:prstGeom>
          <a:noFill/>
          <a:ln/>
        </p:spPr>
        <p:txBody>
          <a:bodyPr wrap="square" lIns="0" tIns="0" rIns="0" bIns="0" rtlCol="0" anchor="t"/>
          <a:lstStyle/>
          <a:p>
            <a:pPr indent="0" marL="0">
              <a:lnSpc>
                <a:spcPct val="114000"/>
              </a:lnSpc>
              <a:buNone/>
            </a:pPr>
            <a:r>
              <a:rPr lang="en-US" sz="950" dirty="0">
                <a:solidFill>
                  <a:srgbClr val="55677A"/>
                </a:solidFill>
                <a:latin typeface="Calibri" pitchFamily="34" charset="0"/>
                <a:ea typeface="Calibri" pitchFamily="34" charset="-122"/>
                <a:cs typeface="Calibri" pitchFamily="34" charset="-120"/>
              </a:rPr>
              <a:t>Progettare un database solido, collegando le varie tabelle tramite un identificativo (id). Evitare che contengano dati ripetuti.</a:t>
            </a:r>
            <a:endParaRPr lang="en-US" sz="950" dirty="0"/>
          </a:p>
        </p:txBody>
      </p:sp>
      <p:sp>
        <p:nvSpPr>
          <p:cNvPr id="15" name="Shape 13"/>
          <p:cNvSpPr/>
          <p:nvPr/>
        </p:nvSpPr>
        <p:spPr>
          <a:xfrm>
            <a:off x="4416552" y="4800600"/>
            <a:ext cx="3364992" cy="1234440"/>
          </a:xfrm>
          <a:prstGeom prst="roundRect">
            <a:avLst>
              <a:gd name="adj" fmla="val 7407"/>
            </a:avLst>
          </a:prstGeom>
          <a:solidFill>
            <a:srgbClr val="FFFFFF"/>
          </a:solidFill>
          <a:ln/>
          <a:effectLst>
            <a:outerShdw sx="100000" sy="100000" kx="0" ky="0" algn="bl" rotWithShape="0" blurRad="76200" dist="25400" dir="5400000">
              <a:srgbClr val="0B3556">
                <a:alpha val="10000"/>
              </a:srgbClr>
            </a:outerShdw>
          </a:effectLst>
        </p:spPr>
      </p:sp>
      <p:sp>
        <p:nvSpPr>
          <p:cNvPr id="16" name="Text 14"/>
          <p:cNvSpPr txBox="1"/>
          <p:nvPr/>
        </p:nvSpPr>
        <p:spPr>
          <a:xfrm>
            <a:off x="4617720" y="4928616"/>
            <a:ext cx="731520" cy="411480"/>
          </a:xfrm>
          <a:prstGeom prst="rect">
            <a:avLst/>
          </a:prstGeom>
          <a:noFill/>
          <a:ln/>
        </p:spPr>
        <p:txBody>
          <a:bodyPr wrap="square" lIns="0" tIns="0" rIns="0" bIns="0" rtlCol="0" anchor="ctr"/>
          <a:lstStyle/>
          <a:p>
            <a:pPr indent="0" marL="0">
              <a:buNone/>
            </a:pPr>
            <a:r>
              <a:rPr lang="en-US" sz="2000" b="1" dirty="0">
                <a:solidFill>
                  <a:srgbClr val="E2892F"/>
                </a:solidFill>
                <a:latin typeface="Cambria" pitchFamily="34" charset="0"/>
                <a:ea typeface="Cambria" pitchFamily="34" charset="-122"/>
                <a:cs typeface="Cambria" pitchFamily="34" charset="-120"/>
              </a:rPr>
              <a:t>02</a:t>
            </a:r>
            <a:endParaRPr lang="en-US" sz="2000" dirty="0"/>
          </a:p>
        </p:txBody>
      </p:sp>
      <p:sp>
        <p:nvSpPr>
          <p:cNvPr id="17" name="Text 15"/>
          <p:cNvSpPr txBox="1"/>
          <p:nvPr/>
        </p:nvSpPr>
        <p:spPr>
          <a:xfrm>
            <a:off x="5285232" y="4946904"/>
            <a:ext cx="2313432" cy="365760"/>
          </a:xfrm>
          <a:prstGeom prst="rect">
            <a:avLst/>
          </a:prstGeom>
          <a:noFill/>
          <a:ln/>
        </p:spPr>
        <p:txBody>
          <a:bodyPr wrap="square" lIns="0" tIns="0" rIns="0" bIns="0" rtlCol="0" anchor="t"/>
          <a:lstStyle/>
          <a:p>
            <a:pPr indent="0" marL="0">
              <a:buNone/>
            </a:pPr>
            <a:r>
              <a:rPr lang="en-US" sz="1250" b="1" dirty="0">
                <a:solidFill>
                  <a:srgbClr val="0B3556"/>
                </a:solidFill>
                <a:latin typeface="Cambria" pitchFamily="34" charset="0"/>
                <a:ea typeface="Cambria" pitchFamily="34" charset="-122"/>
                <a:cs typeface="Cambria" pitchFamily="34" charset="-120"/>
              </a:rPr>
              <a:t>Un sito sempre aggiornato</a:t>
            </a:r>
            <a:endParaRPr lang="en-US" sz="1250" dirty="0"/>
          </a:p>
        </p:txBody>
      </p:sp>
      <p:sp>
        <p:nvSpPr>
          <p:cNvPr id="18" name="Text 16"/>
          <p:cNvSpPr txBox="1"/>
          <p:nvPr/>
        </p:nvSpPr>
        <p:spPr>
          <a:xfrm>
            <a:off x="4617720" y="5330952"/>
            <a:ext cx="2962656" cy="594360"/>
          </a:xfrm>
          <a:prstGeom prst="rect">
            <a:avLst/>
          </a:prstGeom>
          <a:noFill/>
          <a:ln/>
        </p:spPr>
        <p:txBody>
          <a:bodyPr wrap="square" lIns="0" tIns="0" rIns="0" bIns="0" rtlCol="0" anchor="t"/>
          <a:lstStyle/>
          <a:p>
            <a:pPr indent="0" marL="0">
              <a:lnSpc>
                <a:spcPct val="114000"/>
              </a:lnSpc>
              <a:buNone/>
            </a:pPr>
            <a:r>
              <a:rPr lang="en-US" sz="950" dirty="0">
                <a:solidFill>
                  <a:srgbClr val="55677A"/>
                </a:solidFill>
                <a:latin typeface="Calibri" pitchFamily="34" charset="0"/>
                <a:ea typeface="Calibri" pitchFamily="34" charset="-122"/>
                <a:cs typeface="Calibri" pitchFamily="34" charset="-120"/>
              </a:rPr>
              <a:t>Realizzare un sito web per consultare in modo semplice e sempre aggiornato le informazioni della squadra.</a:t>
            </a:r>
            <a:endParaRPr lang="en-US" sz="950" dirty="0"/>
          </a:p>
        </p:txBody>
      </p:sp>
      <p:sp>
        <p:nvSpPr>
          <p:cNvPr id="19" name="Shape 17"/>
          <p:cNvSpPr/>
          <p:nvPr/>
        </p:nvSpPr>
        <p:spPr>
          <a:xfrm>
            <a:off x="8010144" y="4800600"/>
            <a:ext cx="3364992" cy="1234440"/>
          </a:xfrm>
          <a:prstGeom prst="roundRect">
            <a:avLst>
              <a:gd name="adj" fmla="val 7407"/>
            </a:avLst>
          </a:prstGeom>
          <a:solidFill>
            <a:srgbClr val="FFFFFF"/>
          </a:solidFill>
          <a:ln/>
          <a:effectLst>
            <a:outerShdw sx="100000" sy="100000" kx="0" ky="0" algn="bl" rotWithShape="0" blurRad="76200" dist="25400" dir="5400000">
              <a:srgbClr val="0B3556">
                <a:alpha val="10000"/>
              </a:srgbClr>
            </a:outerShdw>
          </a:effectLst>
        </p:spPr>
      </p:sp>
      <p:sp>
        <p:nvSpPr>
          <p:cNvPr id="20" name="Text 18"/>
          <p:cNvSpPr txBox="1"/>
          <p:nvPr/>
        </p:nvSpPr>
        <p:spPr>
          <a:xfrm>
            <a:off x="8211312" y="4928616"/>
            <a:ext cx="731520" cy="411480"/>
          </a:xfrm>
          <a:prstGeom prst="rect">
            <a:avLst/>
          </a:prstGeom>
          <a:noFill/>
          <a:ln/>
        </p:spPr>
        <p:txBody>
          <a:bodyPr wrap="square" lIns="0" tIns="0" rIns="0" bIns="0" rtlCol="0" anchor="ctr"/>
          <a:lstStyle/>
          <a:p>
            <a:pPr indent="0" marL="0">
              <a:buNone/>
            </a:pPr>
            <a:r>
              <a:rPr lang="en-US" sz="2000" b="1" dirty="0">
                <a:solidFill>
                  <a:srgbClr val="E2892F"/>
                </a:solidFill>
                <a:latin typeface="Cambria" pitchFamily="34" charset="0"/>
                <a:ea typeface="Cambria" pitchFamily="34" charset="-122"/>
                <a:cs typeface="Cambria" pitchFamily="34" charset="-120"/>
              </a:rPr>
              <a:t>04</a:t>
            </a:r>
            <a:endParaRPr lang="en-US" sz="2000" dirty="0"/>
          </a:p>
        </p:txBody>
      </p:sp>
      <p:sp>
        <p:nvSpPr>
          <p:cNvPr id="21" name="Text 19"/>
          <p:cNvSpPr txBox="1"/>
          <p:nvPr/>
        </p:nvSpPr>
        <p:spPr>
          <a:xfrm>
            <a:off x="8878824" y="4946904"/>
            <a:ext cx="2313432" cy="365760"/>
          </a:xfrm>
          <a:prstGeom prst="rect">
            <a:avLst/>
          </a:prstGeom>
          <a:noFill/>
          <a:ln/>
        </p:spPr>
        <p:txBody>
          <a:bodyPr wrap="square" lIns="0" tIns="0" rIns="0" bIns="0" rtlCol="0" anchor="t"/>
          <a:lstStyle/>
          <a:p>
            <a:pPr indent="0" marL="0">
              <a:buNone/>
            </a:pPr>
            <a:r>
              <a:rPr lang="en-US" sz="1250" b="1" dirty="0">
                <a:solidFill>
                  <a:srgbClr val="0B3556"/>
                </a:solidFill>
                <a:latin typeface="Cambria" pitchFamily="34" charset="0"/>
                <a:ea typeface="Cambria" pitchFamily="34" charset="-122"/>
                <a:cs typeface="Cambria" pitchFamily="34" charset="-120"/>
              </a:rPr>
              <a:t>Altre funzioni utili</a:t>
            </a:r>
            <a:endParaRPr lang="en-US" sz="1250" dirty="0"/>
          </a:p>
        </p:txBody>
      </p:sp>
      <p:sp>
        <p:nvSpPr>
          <p:cNvPr id="22" name="Text 20"/>
          <p:cNvSpPr txBox="1"/>
          <p:nvPr/>
        </p:nvSpPr>
        <p:spPr>
          <a:xfrm>
            <a:off x="8211312" y="5330952"/>
            <a:ext cx="2962656" cy="594360"/>
          </a:xfrm>
          <a:prstGeom prst="rect">
            <a:avLst/>
          </a:prstGeom>
          <a:noFill/>
          <a:ln/>
        </p:spPr>
        <p:txBody>
          <a:bodyPr wrap="square" lIns="0" tIns="0" rIns="0" bIns="0" rtlCol="0" anchor="t"/>
          <a:lstStyle/>
          <a:p>
            <a:pPr indent="0" marL="0">
              <a:lnSpc>
                <a:spcPct val="114000"/>
              </a:lnSpc>
              <a:buNone/>
            </a:pPr>
            <a:r>
              <a:rPr lang="en-US" sz="950" dirty="0">
                <a:solidFill>
                  <a:srgbClr val="55677A"/>
                </a:solidFill>
                <a:latin typeface="Calibri" pitchFamily="34" charset="0"/>
                <a:ea typeface="Calibri" pitchFamily="34" charset="-122"/>
                <a:cs typeface="Calibri" pitchFamily="34" charset="-120"/>
              </a:rPr>
              <a:t>Un vero accesso con email e password, il recupero della password dimenticata, e una pagina Impostazioni.</a:t>
            </a:r>
            <a:endParaRPr lang="en-US" sz="95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5677A"/>
                </a:solidFill>
                <a:latin typeface="Calibri" pitchFamily="34" charset="0"/>
                <a:ea typeface="Calibri" pitchFamily="34" charset="-122"/>
                <a:cs typeface="Calibri" pitchFamily="34" charset="-120"/>
              </a:rPr>
              <a:t>STAGE  ·  GESTIONE CERTIFICATI MEDICI</a:t>
            </a:r>
            <a:endParaRPr lang="en-US" sz="900" dirty="0"/>
          </a:p>
        </p:txBody>
      </p:sp>
      <p:sp>
        <p:nvSpPr>
          <p:cNvPr id="24" name="Text 22"/>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900" dirty="0">
                <a:solidFill>
                  <a:srgbClr val="5567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822960" y="502920"/>
            <a:ext cx="4407408" cy="329184"/>
          </a:xfrm>
          <a:prstGeom prst="roundRect">
            <a:avLst>
              <a:gd name="adj" fmla="val 50000"/>
            </a:avLst>
          </a:prstGeom>
          <a:solidFill>
            <a:srgbClr val="E2892F"/>
          </a:solidFill>
          <a:ln/>
        </p:spPr>
      </p:sp>
      <p:sp>
        <p:nvSpPr>
          <p:cNvPr id="3" name="Text 1"/>
          <p:cNvSpPr txBox="1"/>
          <p:nvPr/>
        </p:nvSpPr>
        <p:spPr>
          <a:xfrm>
            <a:off x="822960" y="502920"/>
            <a:ext cx="4407408"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RELAZIONE INIZIALE</a:t>
            </a:r>
            <a:endParaRPr lang="en-US" sz="1100" dirty="0"/>
          </a:p>
        </p:txBody>
      </p:sp>
      <p:sp>
        <p:nvSpPr>
          <p:cNvPr id="4" name="Text 2"/>
          <p:cNvSpPr txBox="1"/>
          <p:nvPr/>
        </p:nvSpPr>
        <p:spPr>
          <a:xfrm>
            <a:off x="822960" y="868680"/>
            <a:ext cx="10515600" cy="457200"/>
          </a:xfrm>
          <a:prstGeom prst="rect">
            <a:avLst/>
          </a:prstGeom>
          <a:noFill/>
          <a:ln/>
        </p:spPr>
        <p:txBody>
          <a:bodyPr wrap="square" lIns="0" tIns="0" rIns="0" bIns="0" rtlCol="0" anchor="ctr"/>
          <a:lstStyle/>
          <a:p>
            <a:pPr indent="0" marL="0">
              <a:buNone/>
            </a:pPr>
            <a:r>
              <a:rPr lang="en-US" sz="2300" b="1" dirty="0">
                <a:solidFill>
                  <a:srgbClr val="0B3556"/>
                </a:solidFill>
                <a:latin typeface="Cambria" pitchFamily="34" charset="0"/>
                <a:ea typeface="Cambria" pitchFamily="34" charset="-122"/>
                <a:cs typeface="Cambria" pitchFamily="34" charset="-120"/>
              </a:rPr>
              <a:t>La pianificazione: roadmap, tecnologie e mockup</a:t>
            </a:r>
            <a:endParaRPr lang="en-US" sz="2300" dirty="0"/>
          </a:p>
        </p:txBody>
      </p:sp>
      <p:sp>
        <p:nvSpPr>
          <p:cNvPr id="5" name="Text 3"/>
          <p:cNvSpPr txBox="1"/>
          <p:nvPr/>
        </p:nvSpPr>
        <p:spPr>
          <a:xfrm>
            <a:off x="822960" y="1280160"/>
            <a:ext cx="10515600" cy="292608"/>
          </a:xfrm>
          <a:prstGeom prst="rect">
            <a:avLst/>
          </a:prstGeom>
          <a:noFill/>
          <a:ln/>
        </p:spPr>
        <p:txBody>
          <a:bodyPr wrap="square" lIns="0" tIns="0" rIns="0" bIns="0" rtlCol="0" anchor="ctr"/>
          <a:lstStyle/>
          <a:p>
            <a:pPr indent="0" marL="0">
              <a:lnSpc>
                <a:spcPct val="110000"/>
              </a:lnSpc>
              <a:buNone/>
            </a:pPr>
            <a:r>
              <a:rPr lang="en-US" sz="1050" dirty="0">
                <a:solidFill>
                  <a:srgbClr val="55677A"/>
                </a:solidFill>
                <a:latin typeface="Calibri" pitchFamily="34" charset="0"/>
                <a:ea typeface="Calibri" pitchFamily="34" charset="-122"/>
                <a:cs typeface="Calibri" pitchFamily="34" charset="-120"/>
              </a:rPr>
              <a:t>Oltre agli obiettivi, nella relazione iniziale ho definito una roadmap in due fasi, scelto le tecnologie da usare e abbozzato un primo mockup del sito.</a:t>
            </a:r>
            <a:endParaRPr lang="en-US" sz="1050" dirty="0"/>
          </a:p>
        </p:txBody>
      </p:sp>
      <p:sp>
        <p:nvSpPr>
          <p:cNvPr id="6" name="Text 4"/>
          <p:cNvSpPr txBox="1"/>
          <p:nvPr/>
        </p:nvSpPr>
        <p:spPr>
          <a:xfrm>
            <a:off x="822960" y="1627632"/>
            <a:ext cx="5029200" cy="219456"/>
          </a:xfrm>
          <a:prstGeom prst="rect">
            <a:avLst/>
          </a:prstGeom>
          <a:noFill/>
          <a:ln/>
        </p:spPr>
        <p:txBody>
          <a:bodyPr wrap="square" lIns="0" tIns="0" rIns="0" bIns="0" rtlCol="0" anchor="ctr"/>
          <a:lstStyle/>
          <a:p>
            <a:pPr indent="0" marL="0">
              <a:buNone/>
            </a:pPr>
            <a:r>
              <a:rPr lang="en-US" sz="950" b="1" spc="100" kern="0" dirty="0">
                <a:solidFill>
                  <a:srgbClr val="E2892F"/>
                </a:solidFill>
                <a:latin typeface="Calibri" pitchFamily="34" charset="0"/>
                <a:ea typeface="Calibri" pitchFamily="34" charset="-122"/>
                <a:cs typeface="Calibri" pitchFamily="34" charset="-120"/>
              </a:rPr>
              <a:t>ROADMAP</a:t>
            </a:r>
            <a:endParaRPr lang="en-US" sz="950" dirty="0"/>
          </a:p>
        </p:txBody>
      </p:sp>
      <p:sp>
        <p:nvSpPr>
          <p:cNvPr id="7" name="Shape 5"/>
          <p:cNvSpPr/>
          <p:nvPr/>
        </p:nvSpPr>
        <p:spPr>
          <a:xfrm>
            <a:off x="822960" y="1847088"/>
            <a:ext cx="5134356" cy="566928"/>
          </a:xfrm>
          <a:prstGeom prst="roundRect">
            <a:avLst>
              <a:gd name="adj" fmla="val 16129"/>
            </a:avLst>
          </a:prstGeom>
          <a:solidFill>
            <a:srgbClr val="FFFFFF"/>
          </a:solidFill>
          <a:ln/>
          <a:effectLst>
            <a:outerShdw sx="100000" sy="100000" kx="0" ky="0" algn="bl" rotWithShape="0" blurRad="76200" dist="25400" dir="5400000">
              <a:srgbClr val="0B3556">
                <a:alpha val="10000"/>
              </a:srgbClr>
            </a:outerShdw>
          </a:effectLst>
        </p:spPr>
      </p:sp>
      <p:sp>
        <p:nvSpPr>
          <p:cNvPr id="8" name="Shape 6"/>
          <p:cNvSpPr/>
          <p:nvPr/>
        </p:nvSpPr>
        <p:spPr>
          <a:xfrm>
            <a:off x="969264" y="1938528"/>
            <a:ext cx="384048" cy="384048"/>
          </a:xfrm>
          <a:prstGeom prst="ellipse">
            <a:avLst/>
          </a:prstGeom>
          <a:solidFill>
            <a:srgbClr val="0B3556"/>
          </a:solidFill>
          <a:ln/>
        </p:spPr>
      </p:sp>
      <p:sp>
        <p:nvSpPr>
          <p:cNvPr id="9" name="Text 7"/>
          <p:cNvSpPr txBox="1"/>
          <p:nvPr/>
        </p:nvSpPr>
        <p:spPr>
          <a:xfrm>
            <a:off x="96926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txBox="1"/>
          <p:nvPr/>
        </p:nvSpPr>
        <p:spPr>
          <a:xfrm>
            <a:off x="1481328" y="1901952"/>
            <a:ext cx="4265676" cy="237744"/>
          </a:xfrm>
          <a:prstGeom prst="rect">
            <a:avLst/>
          </a:prstGeom>
          <a:noFill/>
          <a:ln/>
        </p:spPr>
        <p:txBody>
          <a:bodyPr wrap="square" lIns="0" tIns="0" rIns="0" bIns="0" rtlCol="0" anchor="t"/>
          <a:lstStyle/>
          <a:p>
            <a:pPr indent="0" marL="0">
              <a:buNone/>
            </a:pPr>
            <a:r>
              <a:rPr lang="en-US" sz="1150" b="1" dirty="0">
                <a:solidFill>
                  <a:srgbClr val="0B3556"/>
                </a:solidFill>
                <a:latin typeface="Cambria" pitchFamily="34" charset="0"/>
                <a:ea typeface="Cambria" pitchFamily="34" charset="-122"/>
                <a:cs typeface="Cambria" pitchFamily="34" charset="-120"/>
              </a:rPr>
              <a:t>Fase 1 · 1 – 13 settembre</a:t>
            </a:r>
            <a:endParaRPr lang="en-US" sz="1150" dirty="0"/>
          </a:p>
        </p:txBody>
      </p:sp>
      <p:sp>
        <p:nvSpPr>
          <p:cNvPr id="11" name="Text 9"/>
          <p:cNvSpPr txBox="1"/>
          <p:nvPr/>
        </p:nvSpPr>
        <p:spPr>
          <a:xfrm>
            <a:off x="1481328" y="2130552"/>
            <a:ext cx="4265676" cy="256032"/>
          </a:xfrm>
          <a:prstGeom prst="rect">
            <a:avLst/>
          </a:prstGeom>
          <a:noFill/>
          <a:ln/>
        </p:spPr>
        <p:txBody>
          <a:bodyPr wrap="square" lIns="0" tIns="0" rIns="0" bIns="0" rtlCol="0" anchor="t"/>
          <a:lstStyle/>
          <a:p>
            <a:pPr indent="0" marL="0">
              <a:lnSpc>
                <a:spcPct val="105000"/>
              </a:lnSpc>
              <a:buNone/>
            </a:pPr>
            <a:r>
              <a:rPr lang="en-US" sz="850" dirty="0">
                <a:solidFill>
                  <a:srgbClr val="55677A"/>
                </a:solidFill>
                <a:latin typeface="Calibri" pitchFamily="34" charset="0"/>
                <a:ea typeface="Calibri" pitchFamily="34" charset="-122"/>
                <a:cs typeface="Calibri" pitchFamily="34" charset="-120"/>
              </a:rPr>
              <a:t>Fondamenta: database, server, prima versione del sito e gestione dei certificati.</a:t>
            </a:r>
            <a:endParaRPr lang="en-US" sz="850" dirty="0"/>
          </a:p>
        </p:txBody>
      </p:sp>
      <p:sp>
        <p:nvSpPr>
          <p:cNvPr id="12" name="Shape 10"/>
          <p:cNvSpPr/>
          <p:nvPr/>
        </p:nvSpPr>
        <p:spPr>
          <a:xfrm>
            <a:off x="6231636" y="1847088"/>
            <a:ext cx="5134356" cy="566928"/>
          </a:xfrm>
          <a:prstGeom prst="roundRect">
            <a:avLst>
              <a:gd name="adj" fmla="val 16129"/>
            </a:avLst>
          </a:prstGeom>
          <a:solidFill>
            <a:srgbClr val="FFFFFF"/>
          </a:solidFill>
          <a:ln/>
          <a:effectLst>
            <a:outerShdw sx="100000" sy="100000" kx="0" ky="0" algn="bl" rotWithShape="0" blurRad="76200" dist="25400" dir="5400000">
              <a:srgbClr val="0B3556">
                <a:alpha val="10000"/>
              </a:srgbClr>
            </a:outerShdw>
          </a:effectLst>
        </p:spPr>
      </p:sp>
      <p:sp>
        <p:nvSpPr>
          <p:cNvPr id="13" name="Shape 11"/>
          <p:cNvSpPr/>
          <p:nvPr/>
        </p:nvSpPr>
        <p:spPr>
          <a:xfrm>
            <a:off x="6377940" y="1938528"/>
            <a:ext cx="384048" cy="384048"/>
          </a:xfrm>
          <a:prstGeom prst="ellipse">
            <a:avLst/>
          </a:prstGeom>
          <a:solidFill>
            <a:srgbClr val="0B3556"/>
          </a:solidFill>
          <a:ln/>
        </p:spPr>
      </p:sp>
      <p:sp>
        <p:nvSpPr>
          <p:cNvPr id="14" name="Text 12"/>
          <p:cNvSpPr txBox="1"/>
          <p:nvPr/>
        </p:nvSpPr>
        <p:spPr>
          <a:xfrm>
            <a:off x="637794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6890004" y="1901952"/>
            <a:ext cx="4265676" cy="237744"/>
          </a:xfrm>
          <a:prstGeom prst="rect">
            <a:avLst/>
          </a:prstGeom>
          <a:noFill/>
          <a:ln/>
        </p:spPr>
        <p:txBody>
          <a:bodyPr wrap="square" lIns="0" tIns="0" rIns="0" bIns="0" rtlCol="0" anchor="t"/>
          <a:lstStyle/>
          <a:p>
            <a:pPr indent="0" marL="0">
              <a:buNone/>
            </a:pPr>
            <a:r>
              <a:rPr lang="en-US" sz="1150" b="1" dirty="0">
                <a:solidFill>
                  <a:srgbClr val="0B3556"/>
                </a:solidFill>
                <a:latin typeface="Cambria" pitchFamily="34" charset="0"/>
                <a:ea typeface="Cambria" pitchFamily="34" charset="-122"/>
                <a:cs typeface="Cambria" pitchFamily="34" charset="-120"/>
              </a:rPr>
              <a:t>Fase 2 · 14 – 21 settembre</a:t>
            </a:r>
            <a:endParaRPr lang="en-US" sz="1150" dirty="0"/>
          </a:p>
        </p:txBody>
      </p:sp>
      <p:sp>
        <p:nvSpPr>
          <p:cNvPr id="16" name="Text 14"/>
          <p:cNvSpPr txBox="1"/>
          <p:nvPr/>
        </p:nvSpPr>
        <p:spPr>
          <a:xfrm>
            <a:off x="6890004" y="2130552"/>
            <a:ext cx="4265676" cy="256032"/>
          </a:xfrm>
          <a:prstGeom prst="rect">
            <a:avLst/>
          </a:prstGeom>
          <a:noFill/>
          <a:ln/>
        </p:spPr>
        <p:txBody>
          <a:bodyPr wrap="square" lIns="0" tIns="0" rIns="0" bIns="0" rtlCol="0" anchor="t"/>
          <a:lstStyle/>
          <a:p>
            <a:pPr indent="0" marL="0">
              <a:lnSpc>
                <a:spcPct val="105000"/>
              </a:lnSpc>
              <a:buNone/>
            </a:pPr>
            <a:r>
              <a:rPr lang="en-US" sz="850" dirty="0">
                <a:solidFill>
                  <a:srgbClr val="55677A"/>
                </a:solidFill>
                <a:latin typeface="Calibri" pitchFamily="34" charset="0"/>
                <a:ea typeface="Calibri" pitchFamily="34" charset="-122"/>
                <a:cs typeface="Calibri" pitchFamily="34" charset="-120"/>
              </a:rPr>
              <a:t>Versione definitiva: accesso reale, email vere, pubblicazione online e rifiniture.</a:t>
            </a:r>
            <a:endParaRPr lang="en-US" sz="850" dirty="0"/>
          </a:p>
        </p:txBody>
      </p:sp>
      <p:sp>
        <p:nvSpPr>
          <p:cNvPr id="17" name="Text 15"/>
          <p:cNvSpPr txBox="1"/>
          <p:nvPr/>
        </p:nvSpPr>
        <p:spPr>
          <a:xfrm>
            <a:off x="822960" y="2560320"/>
            <a:ext cx="5486400" cy="201168"/>
          </a:xfrm>
          <a:prstGeom prst="rect">
            <a:avLst/>
          </a:prstGeom>
          <a:noFill/>
          <a:ln/>
        </p:spPr>
        <p:txBody>
          <a:bodyPr wrap="square" lIns="0" tIns="0" rIns="0" bIns="0" rtlCol="0" anchor="ctr"/>
          <a:lstStyle/>
          <a:p>
            <a:pPr indent="0" marL="0">
              <a:buNone/>
            </a:pPr>
            <a:r>
              <a:rPr lang="en-US" sz="950" b="1" spc="100" kern="0" dirty="0">
                <a:solidFill>
                  <a:srgbClr val="E2892F"/>
                </a:solidFill>
                <a:latin typeface="Calibri" pitchFamily="34" charset="0"/>
                <a:ea typeface="Calibri" pitchFamily="34" charset="-122"/>
                <a:cs typeface="Calibri" pitchFamily="34" charset="-120"/>
              </a:rPr>
              <a:t>TECNOLOGIE SCELTE</a:t>
            </a:r>
            <a:endParaRPr lang="en-US" sz="950" dirty="0"/>
          </a:p>
        </p:txBody>
      </p:sp>
      <p:sp>
        <p:nvSpPr>
          <p:cNvPr id="18" name="Shape 16"/>
          <p:cNvSpPr/>
          <p:nvPr/>
        </p:nvSpPr>
        <p:spPr>
          <a:xfrm>
            <a:off x="822960" y="2807208"/>
            <a:ext cx="969264" cy="310896"/>
          </a:xfrm>
          <a:prstGeom prst="roundRect">
            <a:avLst>
              <a:gd name="adj" fmla="val 50000"/>
            </a:avLst>
          </a:prstGeom>
          <a:solidFill>
            <a:srgbClr val="0B3556"/>
          </a:solidFill>
          <a:ln/>
        </p:spPr>
      </p:sp>
      <p:sp>
        <p:nvSpPr>
          <p:cNvPr id="19" name="Text 17"/>
          <p:cNvSpPr txBox="1"/>
          <p:nvPr/>
        </p:nvSpPr>
        <p:spPr>
          <a:xfrm>
            <a:off x="822960" y="2807208"/>
            <a:ext cx="969264"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Node.js</a:t>
            </a:r>
            <a:endParaRPr lang="en-US" sz="900" dirty="0"/>
          </a:p>
        </p:txBody>
      </p:sp>
      <p:sp>
        <p:nvSpPr>
          <p:cNvPr id="20" name="Shape 18"/>
          <p:cNvSpPr/>
          <p:nvPr/>
        </p:nvSpPr>
        <p:spPr>
          <a:xfrm>
            <a:off x="1911096" y="2807208"/>
            <a:ext cx="969264" cy="310896"/>
          </a:xfrm>
          <a:prstGeom prst="roundRect">
            <a:avLst>
              <a:gd name="adj" fmla="val 50000"/>
            </a:avLst>
          </a:prstGeom>
          <a:solidFill>
            <a:srgbClr val="0B3556"/>
          </a:solidFill>
          <a:ln/>
        </p:spPr>
      </p:sp>
      <p:sp>
        <p:nvSpPr>
          <p:cNvPr id="21" name="Text 19"/>
          <p:cNvSpPr txBox="1"/>
          <p:nvPr/>
        </p:nvSpPr>
        <p:spPr>
          <a:xfrm>
            <a:off x="1911096" y="2807208"/>
            <a:ext cx="969264"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Express</a:t>
            </a:r>
            <a:endParaRPr lang="en-US" sz="900" dirty="0"/>
          </a:p>
        </p:txBody>
      </p:sp>
      <p:sp>
        <p:nvSpPr>
          <p:cNvPr id="22" name="Shape 20"/>
          <p:cNvSpPr/>
          <p:nvPr/>
        </p:nvSpPr>
        <p:spPr>
          <a:xfrm>
            <a:off x="2999232" y="2807208"/>
            <a:ext cx="1060704" cy="310896"/>
          </a:xfrm>
          <a:prstGeom prst="roundRect">
            <a:avLst>
              <a:gd name="adj" fmla="val 50000"/>
            </a:avLst>
          </a:prstGeom>
          <a:solidFill>
            <a:srgbClr val="0B3556"/>
          </a:solidFill>
          <a:ln/>
        </p:spPr>
      </p:sp>
      <p:sp>
        <p:nvSpPr>
          <p:cNvPr id="23" name="Text 21"/>
          <p:cNvSpPr txBox="1"/>
          <p:nvPr/>
        </p:nvSpPr>
        <p:spPr>
          <a:xfrm>
            <a:off x="2999232" y="2807208"/>
            <a:ext cx="1060704"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Supabase</a:t>
            </a:r>
            <a:endParaRPr lang="en-US" sz="900" dirty="0"/>
          </a:p>
        </p:txBody>
      </p:sp>
      <p:sp>
        <p:nvSpPr>
          <p:cNvPr id="24" name="Shape 22"/>
          <p:cNvSpPr/>
          <p:nvPr/>
        </p:nvSpPr>
        <p:spPr>
          <a:xfrm>
            <a:off x="4178808" y="2807208"/>
            <a:ext cx="877824" cy="310896"/>
          </a:xfrm>
          <a:prstGeom prst="roundRect">
            <a:avLst>
              <a:gd name="adj" fmla="val 50000"/>
            </a:avLst>
          </a:prstGeom>
          <a:solidFill>
            <a:srgbClr val="0B3556"/>
          </a:solidFill>
          <a:ln/>
        </p:spPr>
      </p:sp>
      <p:sp>
        <p:nvSpPr>
          <p:cNvPr id="25" name="Text 23"/>
          <p:cNvSpPr txBox="1"/>
          <p:nvPr/>
        </p:nvSpPr>
        <p:spPr>
          <a:xfrm>
            <a:off x="4178808" y="2807208"/>
            <a:ext cx="877824"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dotenv</a:t>
            </a:r>
            <a:endParaRPr lang="en-US" sz="900" dirty="0"/>
          </a:p>
        </p:txBody>
      </p:sp>
      <p:sp>
        <p:nvSpPr>
          <p:cNvPr id="26" name="Shape 24"/>
          <p:cNvSpPr/>
          <p:nvPr/>
        </p:nvSpPr>
        <p:spPr>
          <a:xfrm>
            <a:off x="5175504" y="2807208"/>
            <a:ext cx="1243584" cy="310896"/>
          </a:xfrm>
          <a:prstGeom prst="roundRect">
            <a:avLst>
              <a:gd name="adj" fmla="val 50000"/>
            </a:avLst>
          </a:prstGeom>
          <a:solidFill>
            <a:srgbClr val="0B3556"/>
          </a:solidFill>
          <a:ln/>
        </p:spPr>
      </p:sp>
      <p:sp>
        <p:nvSpPr>
          <p:cNvPr id="27" name="Text 25"/>
          <p:cNvSpPr txBox="1"/>
          <p:nvPr/>
        </p:nvSpPr>
        <p:spPr>
          <a:xfrm>
            <a:off x="5175504" y="2807208"/>
            <a:ext cx="1243584"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nodemailer</a:t>
            </a:r>
            <a:endParaRPr lang="en-US" sz="900" dirty="0"/>
          </a:p>
        </p:txBody>
      </p:sp>
      <p:sp>
        <p:nvSpPr>
          <p:cNvPr id="28" name="Shape 26"/>
          <p:cNvSpPr/>
          <p:nvPr/>
        </p:nvSpPr>
        <p:spPr>
          <a:xfrm>
            <a:off x="6537960" y="2807208"/>
            <a:ext cx="1700784" cy="310896"/>
          </a:xfrm>
          <a:prstGeom prst="roundRect">
            <a:avLst>
              <a:gd name="adj" fmla="val 50000"/>
            </a:avLst>
          </a:prstGeom>
          <a:solidFill>
            <a:srgbClr val="0B3556"/>
          </a:solidFill>
          <a:ln/>
        </p:spPr>
      </p:sp>
      <p:sp>
        <p:nvSpPr>
          <p:cNvPr id="29" name="Text 27"/>
          <p:cNvSpPr txBox="1"/>
          <p:nvPr/>
        </p:nvSpPr>
        <p:spPr>
          <a:xfrm>
            <a:off x="6537960" y="2807208"/>
            <a:ext cx="1700784"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HTML · CSS · JS</a:t>
            </a:r>
            <a:endParaRPr lang="en-US" sz="900" dirty="0"/>
          </a:p>
        </p:txBody>
      </p:sp>
      <p:sp>
        <p:nvSpPr>
          <p:cNvPr id="30" name="Shape 28"/>
          <p:cNvSpPr/>
          <p:nvPr/>
        </p:nvSpPr>
        <p:spPr>
          <a:xfrm>
            <a:off x="8357616" y="2807208"/>
            <a:ext cx="1426464" cy="310896"/>
          </a:xfrm>
          <a:prstGeom prst="roundRect">
            <a:avLst>
              <a:gd name="adj" fmla="val 50000"/>
            </a:avLst>
          </a:prstGeom>
          <a:solidFill>
            <a:srgbClr val="0B3556"/>
          </a:solidFill>
          <a:ln/>
        </p:spPr>
      </p:sp>
      <p:sp>
        <p:nvSpPr>
          <p:cNvPr id="31" name="Text 29"/>
          <p:cNvSpPr txBox="1"/>
          <p:nvPr/>
        </p:nvSpPr>
        <p:spPr>
          <a:xfrm>
            <a:off x="8357616" y="2807208"/>
            <a:ext cx="1426464"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Google Fonts</a:t>
            </a:r>
            <a:endParaRPr lang="en-US" sz="900" dirty="0"/>
          </a:p>
        </p:txBody>
      </p:sp>
      <p:sp>
        <p:nvSpPr>
          <p:cNvPr id="32" name="Text 30"/>
          <p:cNvSpPr txBox="1"/>
          <p:nvPr/>
        </p:nvSpPr>
        <p:spPr>
          <a:xfrm>
            <a:off x="822960" y="3319272"/>
            <a:ext cx="5486400" cy="201168"/>
          </a:xfrm>
          <a:prstGeom prst="rect">
            <a:avLst/>
          </a:prstGeom>
          <a:noFill/>
          <a:ln/>
        </p:spPr>
        <p:txBody>
          <a:bodyPr wrap="square" lIns="0" tIns="0" rIns="0" bIns="0" rtlCol="0" anchor="ctr"/>
          <a:lstStyle/>
          <a:p>
            <a:pPr indent="0" marL="0">
              <a:buNone/>
            </a:pPr>
            <a:r>
              <a:rPr lang="en-US" sz="950" b="1" spc="100" kern="0" dirty="0">
                <a:solidFill>
                  <a:srgbClr val="E2892F"/>
                </a:solidFill>
                <a:latin typeface="Calibri" pitchFamily="34" charset="0"/>
                <a:ea typeface="Calibri" pitchFamily="34" charset="-122"/>
                <a:cs typeface="Calibri" pitchFamily="34" charset="-120"/>
              </a:rPr>
              <a:t>MOCKUP DEL SITO</a:t>
            </a:r>
            <a:endParaRPr lang="en-US" sz="950" dirty="0"/>
          </a:p>
        </p:txBody>
      </p:sp>
      <p:sp>
        <p:nvSpPr>
          <p:cNvPr id="33" name="Text 31"/>
          <p:cNvSpPr txBox="1"/>
          <p:nvPr/>
        </p:nvSpPr>
        <p:spPr>
          <a:xfrm>
            <a:off x="822960" y="3511296"/>
            <a:ext cx="8686800" cy="201168"/>
          </a:xfrm>
          <a:prstGeom prst="rect">
            <a:avLst/>
          </a:prstGeom>
          <a:noFill/>
          <a:ln/>
        </p:spPr>
        <p:txBody>
          <a:bodyPr wrap="square" lIns="0" tIns="0" rIns="0" bIns="0" rtlCol="0" anchor="ctr"/>
          <a:lstStyle/>
          <a:p>
            <a:pPr indent="0" marL="0">
              <a:buNone/>
            </a:pPr>
            <a:r>
              <a:rPr lang="en-US" sz="900" i="1" dirty="0">
                <a:solidFill>
                  <a:srgbClr val="55677A"/>
                </a:solidFill>
                <a:latin typeface="Calibri" pitchFamily="34" charset="0"/>
                <a:ea typeface="Calibri" pitchFamily="34" charset="-122"/>
                <a:cs typeface="Calibri" pitchFamily="34" charset="-120"/>
              </a:rPr>
              <a:t>Due esempi del primo wireframe disegnato per il sito, poi rifinito durante lo sviluppo.</a:t>
            </a:r>
            <a:endParaRPr lang="en-US" sz="900" dirty="0"/>
          </a:p>
        </p:txBody>
      </p:sp>
      <p:sp>
        <p:nvSpPr>
          <p:cNvPr id="34" name="Shape 32"/>
          <p:cNvSpPr/>
          <p:nvPr/>
        </p:nvSpPr>
        <p:spPr>
          <a:xfrm>
            <a:off x="822960" y="3703320"/>
            <a:ext cx="3265424" cy="2606040"/>
          </a:xfrm>
          <a:prstGeom prst="roundRect">
            <a:avLst>
              <a:gd name="adj" fmla="val 3509"/>
            </a:avLst>
          </a:prstGeom>
          <a:solidFill>
            <a:srgbClr val="FFFFFF"/>
          </a:solidFill>
          <a:ln/>
          <a:effectLst>
            <a:outerShdw sx="100000" sy="100000" kx="0" ky="0" algn="bl" rotWithShape="0" blurRad="88900" dist="25400" dir="5400000">
              <a:srgbClr val="0B3556">
                <a:alpha val="12000"/>
              </a:srgbClr>
            </a:outerShdw>
          </a:effectLst>
        </p:spPr>
      </p:sp>
      <p:pic>
        <p:nvPicPr>
          <p:cNvPr id="35" name="Image 0" descr="mockup_imgs/home.png">    </p:cNvPr>
          <p:cNvPicPr>
            <a:picLocks noChangeAspect="1"/>
          </p:cNvPicPr>
          <p:nvPr/>
        </p:nvPicPr>
        <p:blipFill>
          <a:blip r:embed="rId1"/>
          <a:srcRect l="0" r="0" t="0" b="0"/>
          <a:stretch/>
        </p:blipFill>
        <p:spPr>
          <a:xfrm>
            <a:off x="960120" y="3840480"/>
            <a:ext cx="2991104" cy="2103120"/>
          </a:xfrm>
          <a:prstGeom prst="rect">
            <a:avLst/>
          </a:prstGeom>
        </p:spPr>
      </p:pic>
      <p:sp>
        <p:nvSpPr>
          <p:cNvPr id="36" name="Shape 33"/>
          <p:cNvSpPr/>
          <p:nvPr/>
        </p:nvSpPr>
        <p:spPr>
          <a:xfrm>
            <a:off x="960120" y="5998464"/>
            <a:ext cx="2991104" cy="0"/>
          </a:xfrm>
          <a:prstGeom prst="line">
            <a:avLst/>
          </a:prstGeom>
          <a:noFill/>
          <a:ln w="12700">
            <a:solidFill>
              <a:srgbClr val="D9EAF0"/>
            </a:solidFill>
            <a:prstDash val="solid"/>
          </a:ln>
        </p:spPr>
      </p:sp>
      <p:sp>
        <p:nvSpPr>
          <p:cNvPr id="37" name="Text 34"/>
          <p:cNvSpPr txBox="1"/>
          <p:nvPr/>
        </p:nvSpPr>
        <p:spPr>
          <a:xfrm>
            <a:off x="960120" y="6035040"/>
            <a:ext cx="2991104" cy="237744"/>
          </a:xfrm>
          <a:prstGeom prst="rect">
            <a:avLst/>
          </a:prstGeom>
          <a:noFill/>
          <a:ln/>
        </p:spPr>
        <p:txBody>
          <a:bodyPr wrap="square" lIns="0" tIns="0" rIns="0" bIns="0" rtlCol="0" anchor="ctr"/>
          <a:lstStyle/>
          <a:p>
            <a:pPr indent="0" marL="0">
              <a:buNone/>
            </a:pPr>
            <a:r>
              <a:rPr lang="en-US" sz="1150" b="1" dirty="0">
                <a:solidFill>
                  <a:srgbClr val="0B3556"/>
                </a:solidFill>
                <a:latin typeface="Cambria" pitchFamily="34" charset="0"/>
                <a:ea typeface="Cambria" pitchFamily="34" charset="-122"/>
                <a:cs typeface="Cambria" pitchFamily="34" charset="-120"/>
              </a:rPr>
              <a:t>Home</a:t>
            </a:r>
            <a:endParaRPr lang="en-US" sz="1150" dirty="0"/>
          </a:p>
        </p:txBody>
      </p:sp>
      <p:sp>
        <p:nvSpPr>
          <p:cNvPr id="38" name="Shape 35"/>
          <p:cNvSpPr/>
          <p:nvPr/>
        </p:nvSpPr>
        <p:spPr>
          <a:xfrm>
            <a:off x="4408424" y="3703320"/>
            <a:ext cx="3265424" cy="2606040"/>
          </a:xfrm>
          <a:prstGeom prst="roundRect">
            <a:avLst>
              <a:gd name="adj" fmla="val 3509"/>
            </a:avLst>
          </a:prstGeom>
          <a:solidFill>
            <a:srgbClr val="FFFFFF"/>
          </a:solidFill>
          <a:ln/>
          <a:effectLst>
            <a:outerShdw sx="100000" sy="100000" kx="0" ky="0" algn="bl" rotWithShape="0" blurRad="88900" dist="25400" dir="5400000">
              <a:srgbClr val="0B3556">
                <a:alpha val="12000"/>
              </a:srgbClr>
            </a:outerShdw>
          </a:effectLst>
        </p:spPr>
      </p:sp>
      <p:pic>
        <p:nvPicPr>
          <p:cNvPr id="39" name="Image 1" descr="mockup_imgs/certificati-medici.png">    </p:cNvPr>
          <p:cNvPicPr>
            <a:picLocks noChangeAspect="1"/>
          </p:cNvPicPr>
          <p:nvPr/>
        </p:nvPicPr>
        <p:blipFill>
          <a:blip r:embed="rId2"/>
          <a:srcRect l="0" r="0" t="0" b="0"/>
          <a:stretch/>
        </p:blipFill>
        <p:spPr>
          <a:xfrm>
            <a:off x="4545584" y="3840480"/>
            <a:ext cx="2991104" cy="2103120"/>
          </a:xfrm>
          <a:prstGeom prst="rect">
            <a:avLst/>
          </a:prstGeom>
        </p:spPr>
      </p:pic>
      <p:sp>
        <p:nvSpPr>
          <p:cNvPr id="40" name="Shape 36"/>
          <p:cNvSpPr/>
          <p:nvPr/>
        </p:nvSpPr>
        <p:spPr>
          <a:xfrm>
            <a:off x="4545584" y="5998464"/>
            <a:ext cx="2991104" cy="0"/>
          </a:xfrm>
          <a:prstGeom prst="line">
            <a:avLst/>
          </a:prstGeom>
          <a:noFill/>
          <a:ln w="12700">
            <a:solidFill>
              <a:srgbClr val="D9EAF0"/>
            </a:solidFill>
            <a:prstDash val="solid"/>
          </a:ln>
        </p:spPr>
      </p:sp>
      <p:sp>
        <p:nvSpPr>
          <p:cNvPr id="41" name="Text 37"/>
          <p:cNvSpPr txBox="1"/>
          <p:nvPr/>
        </p:nvSpPr>
        <p:spPr>
          <a:xfrm>
            <a:off x="4545584" y="6035040"/>
            <a:ext cx="2991104" cy="237744"/>
          </a:xfrm>
          <a:prstGeom prst="rect">
            <a:avLst/>
          </a:prstGeom>
          <a:noFill/>
          <a:ln/>
        </p:spPr>
        <p:txBody>
          <a:bodyPr wrap="square" lIns="0" tIns="0" rIns="0" bIns="0" rtlCol="0" anchor="ctr"/>
          <a:lstStyle/>
          <a:p>
            <a:pPr indent="0" marL="0">
              <a:buNone/>
            </a:pPr>
            <a:r>
              <a:rPr lang="en-US" sz="1150" b="1" dirty="0">
                <a:solidFill>
                  <a:srgbClr val="0B3556"/>
                </a:solidFill>
                <a:latin typeface="Cambria" pitchFamily="34" charset="0"/>
                <a:ea typeface="Cambria" pitchFamily="34" charset="-122"/>
                <a:cs typeface="Cambria" pitchFamily="34" charset="-120"/>
              </a:rPr>
              <a:t>Certificati medici</a:t>
            </a:r>
            <a:endParaRPr lang="en-US" sz="1150" dirty="0"/>
          </a:p>
        </p:txBody>
      </p:sp>
      <p:sp>
        <p:nvSpPr>
          <p:cNvPr id="42" name="Text 3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5677A"/>
                </a:solidFill>
                <a:latin typeface="Calibri" pitchFamily="34" charset="0"/>
                <a:ea typeface="Calibri" pitchFamily="34" charset="-122"/>
                <a:cs typeface="Calibri" pitchFamily="34" charset="-120"/>
              </a:rPr>
              <a:t>STAGE  ·  GESTIONE CERTIFICATI MEDICI</a:t>
            </a:r>
            <a:endParaRPr lang="en-US" sz="900" dirty="0"/>
          </a:p>
        </p:txBody>
      </p:sp>
      <p:sp>
        <p:nvSpPr>
          <p:cNvPr id="43" name="Text 39"/>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900" dirty="0">
                <a:solidFill>
                  <a:srgbClr val="5567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822960" y="502920"/>
            <a:ext cx="4626864" cy="329184"/>
          </a:xfrm>
          <a:prstGeom prst="roundRect">
            <a:avLst>
              <a:gd name="adj" fmla="val 50000"/>
            </a:avLst>
          </a:prstGeom>
          <a:solidFill>
            <a:srgbClr val="E2892F"/>
          </a:solidFill>
          <a:ln/>
        </p:spPr>
      </p:sp>
      <p:sp>
        <p:nvSpPr>
          <p:cNvPr id="3" name="Text 1"/>
          <p:cNvSpPr txBox="1"/>
          <p:nvPr/>
        </p:nvSpPr>
        <p:spPr>
          <a:xfrm>
            <a:off x="822960" y="502920"/>
            <a:ext cx="4626864"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SPECIFICHE TECNICHE</a:t>
            </a:r>
            <a:endParaRPr lang="en-US" sz="1100" dirty="0"/>
          </a:p>
        </p:txBody>
      </p:sp>
      <p:sp>
        <p:nvSpPr>
          <p:cNvPr id="4" name="Text 2"/>
          <p:cNvSpPr txBox="1"/>
          <p:nvPr/>
        </p:nvSpPr>
        <p:spPr>
          <a:xfrm>
            <a:off x="822960" y="914400"/>
            <a:ext cx="10515600" cy="548640"/>
          </a:xfrm>
          <a:prstGeom prst="rect">
            <a:avLst/>
          </a:prstGeom>
          <a:noFill/>
          <a:ln/>
        </p:spPr>
        <p:txBody>
          <a:bodyPr wrap="square" lIns="0" tIns="0" rIns="0" bIns="0" rtlCol="0" anchor="ctr"/>
          <a:lstStyle/>
          <a:p>
            <a:pPr indent="0" marL="0">
              <a:buNone/>
            </a:pPr>
            <a:r>
              <a:rPr lang="en-US" sz="2600" b="1" dirty="0">
                <a:solidFill>
                  <a:srgbClr val="0B3556"/>
                </a:solidFill>
                <a:latin typeface="Cambria" pitchFamily="34" charset="0"/>
                <a:ea typeface="Cambria" pitchFamily="34" charset="-122"/>
                <a:cs typeface="Cambria" pitchFamily="34" charset="-120"/>
              </a:rPr>
              <a:t>Architettura generale del sistema</a:t>
            </a:r>
            <a:endParaRPr lang="en-US" sz="2600" dirty="0"/>
          </a:p>
        </p:txBody>
      </p:sp>
      <p:sp>
        <p:nvSpPr>
          <p:cNvPr id="5" name="Shape 3"/>
          <p:cNvSpPr/>
          <p:nvPr/>
        </p:nvSpPr>
        <p:spPr>
          <a:xfrm>
            <a:off x="822960" y="1554480"/>
            <a:ext cx="3108960" cy="777240"/>
          </a:xfrm>
          <a:prstGeom prst="roundRect">
            <a:avLst>
              <a:gd name="adj" fmla="val 11765"/>
            </a:avLst>
          </a:prstGeom>
          <a:solidFill>
            <a:srgbClr val="FFFFFF"/>
          </a:solidFill>
          <a:ln/>
          <a:effectLst>
            <a:outerShdw sx="100000" sy="100000" kx="0" ky="0" algn="bl" rotWithShape="0" blurRad="76200" dist="25400" dir="5400000">
              <a:srgbClr val="0B3556">
                <a:alpha val="10000"/>
              </a:srgbClr>
            </a:outerShdw>
          </a:effectLst>
        </p:spPr>
      </p:sp>
      <p:sp>
        <p:nvSpPr>
          <p:cNvPr id="6" name="Shape 4"/>
          <p:cNvSpPr/>
          <p:nvPr/>
        </p:nvSpPr>
        <p:spPr>
          <a:xfrm>
            <a:off x="1005840" y="1664208"/>
            <a:ext cx="502920" cy="502920"/>
          </a:xfrm>
          <a:prstGeom prst="ellipse">
            <a:avLst/>
          </a:prstGeom>
          <a:solidFill>
            <a:srgbClr val="0B3556"/>
          </a:solidFill>
          <a:ln/>
        </p:spPr>
      </p:sp>
      <p:pic>
        <p:nvPicPr>
          <p:cNvPr id="7" name="Image 0" descr="preencoded.png">    </p:cNvPr>
          <p:cNvPicPr>
            <a:picLocks noChangeAspect="1"/>
          </p:cNvPicPr>
          <p:nvPr/>
        </p:nvPicPr>
        <p:blipFill>
          <a:blip r:embed="rId1"/>
          <a:stretch>
            <a:fillRect/>
          </a:stretch>
        </p:blipFill>
        <p:spPr>
          <a:xfrm>
            <a:off x="1136599" y="1794967"/>
            <a:ext cx="241402" cy="241402"/>
          </a:xfrm>
          <a:prstGeom prst="rect">
            <a:avLst/>
          </a:prstGeom>
        </p:spPr>
      </p:pic>
      <p:sp>
        <p:nvSpPr>
          <p:cNvPr id="8" name="Text 5"/>
          <p:cNvSpPr txBox="1"/>
          <p:nvPr/>
        </p:nvSpPr>
        <p:spPr>
          <a:xfrm>
            <a:off x="1645920" y="1645920"/>
            <a:ext cx="2103120" cy="292608"/>
          </a:xfrm>
          <a:prstGeom prst="rect">
            <a:avLst/>
          </a:prstGeom>
          <a:noFill/>
          <a:ln/>
        </p:spPr>
        <p:txBody>
          <a:bodyPr wrap="square" lIns="0" tIns="0" rIns="0" bIns="0" rtlCol="0" anchor="t"/>
          <a:lstStyle/>
          <a:p>
            <a:pPr indent="0" marL="0">
              <a:buNone/>
            </a:pPr>
            <a:r>
              <a:rPr lang="en-US" sz="1400" b="1" dirty="0">
                <a:solidFill>
                  <a:srgbClr val="0B3556"/>
                </a:solidFill>
                <a:latin typeface="Cambria" pitchFamily="34" charset="0"/>
                <a:ea typeface="Cambria" pitchFamily="34" charset="-122"/>
                <a:cs typeface="Cambria" pitchFamily="34" charset="-120"/>
              </a:rPr>
              <a:t>Presentazione</a:t>
            </a:r>
            <a:endParaRPr lang="en-US" sz="1400" dirty="0"/>
          </a:p>
        </p:txBody>
      </p:sp>
      <p:sp>
        <p:nvSpPr>
          <p:cNvPr id="9" name="Text 6"/>
          <p:cNvSpPr txBox="1"/>
          <p:nvPr/>
        </p:nvSpPr>
        <p:spPr>
          <a:xfrm>
            <a:off x="1645920" y="1938528"/>
            <a:ext cx="2103120" cy="274320"/>
          </a:xfrm>
          <a:prstGeom prst="rect">
            <a:avLst/>
          </a:prstGeom>
          <a:noFill/>
          <a:ln/>
        </p:spPr>
        <p:txBody>
          <a:bodyPr wrap="square" lIns="0" tIns="0" rIns="0" bIns="0" rtlCol="0" anchor="t"/>
          <a:lstStyle/>
          <a:p>
            <a:pPr indent="0" marL="0">
              <a:buNone/>
            </a:pPr>
            <a:r>
              <a:rPr lang="en-US" sz="1050" dirty="0">
                <a:solidFill>
                  <a:srgbClr val="55677A"/>
                </a:solidFill>
                <a:latin typeface="Calibri" pitchFamily="34" charset="0"/>
                <a:ea typeface="Calibri" pitchFamily="34" charset="-122"/>
                <a:cs typeface="Calibri" pitchFamily="34" charset="-120"/>
              </a:rPr>
              <a:t>browser/</a:t>
            </a:r>
            <a:endParaRPr lang="en-US" sz="1050" dirty="0"/>
          </a:p>
        </p:txBody>
      </p:sp>
      <p:sp>
        <p:nvSpPr>
          <p:cNvPr id="10" name="Text 7"/>
          <p:cNvSpPr txBox="1"/>
          <p:nvPr/>
        </p:nvSpPr>
        <p:spPr>
          <a:xfrm>
            <a:off x="822960" y="2423160"/>
            <a:ext cx="3108960" cy="594360"/>
          </a:xfrm>
          <a:prstGeom prst="rect">
            <a:avLst/>
          </a:prstGeom>
          <a:noFill/>
          <a:ln/>
        </p:spPr>
        <p:txBody>
          <a:bodyPr wrap="square" lIns="0" tIns="0" rIns="0" bIns="0" rtlCol="0" anchor="t"/>
          <a:lstStyle/>
          <a:p>
            <a:pPr indent="0" marL="0">
              <a:lnSpc>
                <a:spcPct val="110000"/>
              </a:lnSpc>
              <a:buNone/>
            </a:pPr>
            <a:r>
              <a:rPr lang="en-US" sz="950" i="1" dirty="0">
                <a:solidFill>
                  <a:srgbClr val="55677A"/>
                </a:solidFill>
                <a:latin typeface="Calibri" pitchFamily="34" charset="0"/>
                <a:ea typeface="Calibri" pitchFamily="34" charset="-122"/>
                <a:cs typeface="Calibri" pitchFamily="34" charset="-120"/>
              </a:rPr>
              <a:t>Quello che l’utente vede: una Single Page Application, con navigazione tra le pagine basata sull’indirizzo (routing "hash").</a:t>
            </a:r>
            <a:endParaRPr lang="en-US" sz="950" dirty="0"/>
          </a:p>
        </p:txBody>
      </p:sp>
      <p:sp>
        <p:nvSpPr>
          <p:cNvPr id="11" name="Shape 8"/>
          <p:cNvSpPr/>
          <p:nvPr/>
        </p:nvSpPr>
        <p:spPr>
          <a:xfrm>
            <a:off x="4572000" y="1554480"/>
            <a:ext cx="3108960" cy="777240"/>
          </a:xfrm>
          <a:prstGeom prst="roundRect">
            <a:avLst>
              <a:gd name="adj" fmla="val 11765"/>
            </a:avLst>
          </a:prstGeom>
          <a:solidFill>
            <a:srgbClr val="FFFFFF"/>
          </a:solidFill>
          <a:ln/>
          <a:effectLst>
            <a:outerShdw sx="100000" sy="100000" kx="0" ky="0" algn="bl" rotWithShape="0" blurRad="76200" dist="25400" dir="5400000">
              <a:srgbClr val="0B3556">
                <a:alpha val="10000"/>
              </a:srgbClr>
            </a:outerShdw>
          </a:effectLst>
        </p:spPr>
      </p:sp>
      <p:sp>
        <p:nvSpPr>
          <p:cNvPr id="12" name="Shape 9"/>
          <p:cNvSpPr/>
          <p:nvPr/>
        </p:nvSpPr>
        <p:spPr>
          <a:xfrm>
            <a:off x="4754880" y="1664208"/>
            <a:ext cx="502920" cy="502920"/>
          </a:xfrm>
          <a:prstGeom prst="ellipse">
            <a:avLst/>
          </a:prstGeom>
          <a:solidFill>
            <a:srgbClr val="0B3556"/>
          </a:solidFill>
          <a:ln/>
        </p:spPr>
      </p:sp>
      <p:pic>
        <p:nvPicPr>
          <p:cNvPr id="13" name="Image 1" descr="preencoded.png">    </p:cNvPr>
          <p:cNvPicPr>
            <a:picLocks noChangeAspect="1"/>
          </p:cNvPicPr>
          <p:nvPr/>
        </p:nvPicPr>
        <p:blipFill>
          <a:blip r:embed="rId2"/>
          <a:stretch>
            <a:fillRect/>
          </a:stretch>
        </p:blipFill>
        <p:spPr>
          <a:xfrm>
            <a:off x="4885639" y="1794967"/>
            <a:ext cx="241402" cy="241402"/>
          </a:xfrm>
          <a:prstGeom prst="rect">
            <a:avLst/>
          </a:prstGeom>
        </p:spPr>
      </p:pic>
      <p:sp>
        <p:nvSpPr>
          <p:cNvPr id="14" name="Text 10"/>
          <p:cNvSpPr txBox="1"/>
          <p:nvPr/>
        </p:nvSpPr>
        <p:spPr>
          <a:xfrm>
            <a:off x="5394960" y="1645920"/>
            <a:ext cx="2103120" cy="292608"/>
          </a:xfrm>
          <a:prstGeom prst="rect">
            <a:avLst/>
          </a:prstGeom>
          <a:noFill/>
          <a:ln/>
        </p:spPr>
        <p:txBody>
          <a:bodyPr wrap="square" lIns="0" tIns="0" rIns="0" bIns="0" rtlCol="0" anchor="t"/>
          <a:lstStyle/>
          <a:p>
            <a:pPr indent="0" marL="0">
              <a:buNone/>
            </a:pPr>
            <a:r>
              <a:rPr lang="en-US" sz="1400" b="1" dirty="0">
                <a:solidFill>
                  <a:srgbClr val="0B3556"/>
                </a:solidFill>
                <a:latin typeface="Cambria" pitchFamily="34" charset="0"/>
                <a:ea typeface="Cambria" pitchFamily="34" charset="-122"/>
                <a:cs typeface="Cambria" pitchFamily="34" charset="-120"/>
              </a:rPr>
              <a:t>Logica</a:t>
            </a:r>
            <a:endParaRPr lang="en-US" sz="1400" dirty="0"/>
          </a:p>
        </p:txBody>
      </p:sp>
      <p:sp>
        <p:nvSpPr>
          <p:cNvPr id="15" name="Text 11"/>
          <p:cNvSpPr txBox="1"/>
          <p:nvPr/>
        </p:nvSpPr>
        <p:spPr>
          <a:xfrm>
            <a:off x="5394960" y="1938528"/>
            <a:ext cx="2103120" cy="274320"/>
          </a:xfrm>
          <a:prstGeom prst="rect">
            <a:avLst/>
          </a:prstGeom>
          <a:noFill/>
          <a:ln/>
        </p:spPr>
        <p:txBody>
          <a:bodyPr wrap="square" lIns="0" tIns="0" rIns="0" bIns="0" rtlCol="0" anchor="t"/>
          <a:lstStyle/>
          <a:p>
            <a:pPr indent="0" marL="0">
              <a:buNone/>
            </a:pPr>
            <a:r>
              <a:rPr lang="en-US" sz="1050" dirty="0">
                <a:solidFill>
                  <a:srgbClr val="55677A"/>
                </a:solidFill>
                <a:latin typeface="Calibri" pitchFamily="34" charset="0"/>
                <a:ea typeface="Calibri" pitchFamily="34" charset="-122"/>
                <a:cs typeface="Calibri" pitchFamily="34" charset="-120"/>
              </a:rPr>
              <a:t>server/</a:t>
            </a:r>
            <a:endParaRPr lang="en-US" sz="1050" dirty="0"/>
          </a:p>
        </p:txBody>
      </p:sp>
      <p:sp>
        <p:nvSpPr>
          <p:cNvPr id="16" name="Text 12"/>
          <p:cNvSpPr txBox="1"/>
          <p:nvPr/>
        </p:nvSpPr>
        <p:spPr>
          <a:xfrm>
            <a:off x="4572000" y="2423160"/>
            <a:ext cx="3108960" cy="594360"/>
          </a:xfrm>
          <a:prstGeom prst="rect">
            <a:avLst/>
          </a:prstGeom>
          <a:noFill/>
          <a:ln/>
        </p:spPr>
        <p:txBody>
          <a:bodyPr wrap="square" lIns="0" tIns="0" rIns="0" bIns="0" rtlCol="0" anchor="t"/>
          <a:lstStyle/>
          <a:p>
            <a:pPr indent="0" marL="0">
              <a:lnSpc>
                <a:spcPct val="110000"/>
              </a:lnSpc>
              <a:buNone/>
            </a:pPr>
            <a:r>
              <a:rPr lang="en-US" sz="950" i="1" dirty="0">
                <a:solidFill>
                  <a:srgbClr val="55677A"/>
                </a:solidFill>
                <a:latin typeface="Calibri" pitchFamily="34" charset="0"/>
                <a:ea typeface="Calibri" pitchFamily="34" charset="-122"/>
                <a:cs typeface="Calibri" pitchFamily="34" charset="-120"/>
              </a:rPr>
              <a:t>Riceve le richieste del sito (un’API REST, con risposte in formato JSON) e decide cosa fare.</a:t>
            </a:r>
            <a:endParaRPr lang="en-US" sz="950" dirty="0"/>
          </a:p>
        </p:txBody>
      </p:sp>
      <p:sp>
        <p:nvSpPr>
          <p:cNvPr id="17" name="Shape 13"/>
          <p:cNvSpPr/>
          <p:nvPr/>
        </p:nvSpPr>
        <p:spPr>
          <a:xfrm>
            <a:off x="8321040" y="1554480"/>
            <a:ext cx="3017520" cy="777240"/>
          </a:xfrm>
          <a:prstGeom prst="roundRect">
            <a:avLst>
              <a:gd name="adj" fmla="val 11765"/>
            </a:avLst>
          </a:prstGeom>
          <a:solidFill>
            <a:srgbClr val="FFFFFF"/>
          </a:solidFill>
          <a:ln/>
          <a:effectLst>
            <a:outerShdw sx="100000" sy="100000" kx="0" ky="0" algn="bl" rotWithShape="0" blurRad="76200" dist="25400" dir="5400000">
              <a:srgbClr val="0B3556">
                <a:alpha val="10000"/>
              </a:srgbClr>
            </a:outerShdw>
          </a:effectLst>
        </p:spPr>
      </p:sp>
      <p:sp>
        <p:nvSpPr>
          <p:cNvPr id="18" name="Shape 14"/>
          <p:cNvSpPr/>
          <p:nvPr/>
        </p:nvSpPr>
        <p:spPr>
          <a:xfrm>
            <a:off x="8503920" y="1664208"/>
            <a:ext cx="502920" cy="502920"/>
          </a:xfrm>
          <a:prstGeom prst="ellipse">
            <a:avLst/>
          </a:prstGeom>
          <a:solidFill>
            <a:srgbClr val="0B3556"/>
          </a:solidFill>
          <a:ln/>
        </p:spPr>
      </p:sp>
      <p:pic>
        <p:nvPicPr>
          <p:cNvPr id="19" name="Image 2" descr="preencoded.png">    </p:cNvPr>
          <p:cNvPicPr>
            <a:picLocks noChangeAspect="1"/>
          </p:cNvPicPr>
          <p:nvPr/>
        </p:nvPicPr>
        <p:blipFill>
          <a:blip r:embed="rId3"/>
          <a:stretch>
            <a:fillRect/>
          </a:stretch>
        </p:blipFill>
        <p:spPr>
          <a:xfrm>
            <a:off x="8634679" y="1794967"/>
            <a:ext cx="241402" cy="241402"/>
          </a:xfrm>
          <a:prstGeom prst="rect">
            <a:avLst/>
          </a:prstGeom>
        </p:spPr>
      </p:pic>
      <p:sp>
        <p:nvSpPr>
          <p:cNvPr id="20" name="Text 15"/>
          <p:cNvSpPr txBox="1"/>
          <p:nvPr/>
        </p:nvSpPr>
        <p:spPr>
          <a:xfrm>
            <a:off x="9144000" y="1645920"/>
            <a:ext cx="2011680" cy="292608"/>
          </a:xfrm>
          <a:prstGeom prst="rect">
            <a:avLst/>
          </a:prstGeom>
          <a:noFill/>
          <a:ln/>
        </p:spPr>
        <p:txBody>
          <a:bodyPr wrap="square" lIns="0" tIns="0" rIns="0" bIns="0" rtlCol="0" anchor="t"/>
          <a:lstStyle/>
          <a:p>
            <a:pPr indent="0" marL="0">
              <a:buNone/>
            </a:pPr>
            <a:r>
              <a:rPr lang="en-US" sz="1400" b="1" dirty="0">
                <a:solidFill>
                  <a:srgbClr val="0B3556"/>
                </a:solidFill>
                <a:latin typeface="Cambria" pitchFamily="34" charset="0"/>
                <a:ea typeface="Cambria" pitchFamily="34" charset="-122"/>
                <a:cs typeface="Cambria" pitchFamily="34" charset="-120"/>
              </a:rPr>
              <a:t>Dati</a:t>
            </a:r>
            <a:endParaRPr lang="en-US" sz="1400" dirty="0"/>
          </a:p>
        </p:txBody>
      </p:sp>
      <p:sp>
        <p:nvSpPr>
          <p:cNvPr id="21" name="Text 16"/>
          <p:cNvSpPr txBox="1"/>
          <p:nvPr/>
        </p:nvSpPr>
        <p:spPr>
          <a:xfrm>
            <a:off x="9144000" y="1938528"/>
            <a:ext cx="2011680" cy="274320"/>
          </a:xfrm>
          <a:prstGeom prst="rect">
            <a:avLst/>
          </a:prstGeom>
          <a:noFill/>
          <a:ln/>
        </p:spPr>
        <p:txBody>
          <a:bodyPr wrap="square" lIns="0" tIns="0" rIns="0" bIns="0" rtlCol="0" anchor="t"/>
          <a:lstStyle/>
          <a:p>
            <a:pPr indent="0" marL="0">
              <a:buNone/>
            </a:pPr>
            <a:r>
              <a:rPr lang="en-US" sz="1050" dirty="0">
                <a:solidFill>
                  <a:srgbClr val="55677A"/>
                </a:solidFill>
                <a:latin typeface="Calibri" pitchFamily="34" charset="0"/>
                <a:ea typeface="Calibri" pitchFamily="34" charset="-122"/>
                <a:cs typeface="Calibri" pitchFamily="34" charset="-120"/>
              </a:rPr>
              <a:t>Supabase</a:t>
            </a:r>
            <a:endParaRPr lang="en-US" sz="1050" dirty="0"/>
          </a:p>
        </p:txBody>
      </p:sp>
      <p:sp>
        <p:nvSpPr>
          <p:cNvPr id="22" name="Text 17"/>
          <p:cNvSpPr txBox="1"/>
          <p:nvPr/>
        </p:nvSpPr>
        <p:spPr>
          <a:xfrm>
            <a:off x="8321040" y="2423160"/>
            <a:ext cx="3017520" cy="594360"/>
          </a:xfrm>
          <a:prstGeom prst="rect">
            <a:avLst/>
          </a:prstGeom>
          <a:noFill/>
          <a:ln/>
        </p:spPr>
        <p:txBody>
          <a:bodyPr wrap="square" lIns="0" tIns="0" rIns="0" bIns="0" rtlCol="0" anchor="t"/>
          <a:lstStyle/>
          <a:p>
            <a:pPr indent="0" marL="0">
              <a:lnSpc>
                <a:spcPct val="110000"/>
              </a:lnSpc>
              <a:buNone/>
            </a:pPr>
            <a:r>
              <a:rPr lang="en-US" sz="950" i="1" dirty="0">
                <a:solidFill>
                  <a:srgbClr val="55677A"/>
                </a:solidFill>
                <a:latin typeface="Calibri" pitchFamily="34" charset="0"/>
                <a:ea typeface="Calibri" pitchFamily="34" charset="-122"/>
                <a:cs typeface="Calibri" pitchFamily="34" charset="-120"/>
              </a:rPr>
              <a:t>Database (PostgreSQL) dove sono salvati tutti i dati.</a:t>
            </a:r>
            <a:endParaRPr lang="en-US" sz="950" dirty="0"/>
          </a:p>
        </p:txBody>
      </p:sp>
      <p:sp>
        <p:nvSpPr>
          <p:cNvPr id="23" name="Text 18"/>
          <p:cNvSpPr txBox="1"/>
          <p:nvPr/>
        </p:nvSpPr>
        <p:spPr>
          <a:xfrm>
            <a:off x="3977640" y="1554480"/>
            <a:ext cx="548640" cy="777240"/>
          </a:xfrm>
          <a:prstGeom prst="rect">
            <a:avLst/>
          </a:prstGeom>
          <a:noFill/>
          <a:ln/>
        </p:spPr>
        <p:txBody>
          <a:bodyPr wrap="square" lIns="0" tIns="0" rIns="0" bIns="0" rtlCol="0" anchor="ctr"/>
          <a:lstStyle/>
          <a:p>
            <a:pPr algn="ctr" indent="0" marL="0">
              <a:buNone/>
            </a:pPr>
            <a:r>
              <a:rPr lang="en-US" sz="2200" b="1" dirty="0">
                <a:solidFill>
                  <a:srgbClr val="E2892F"/>
                </a:solidFill>
                <a:latin typeface="Calibri" pitchFamily="34" charset="0"/>
                <a:ea typeface="Calibri" pitchFamily="34" charset="-122"/>
                <a:cs typeface="Calibri" pitchFamily="34" charset="-120"/>
              </a:rPr>
              <a:t>→</a:t>
            </a:r>
            <a:endParaRPr lang="en-US" sz="2200" dirty="0"/>
          </a:p>
        </p:txBody>
      </p:sp>
      <p:sp>
        <p:nvSpPr>
          <p:cNvPr id="24" name="Text 19"/>
          <p:cNvSpPr txBox="1"/>
          <p:nvPr/>
        </p:nvSpPr>
        <p:spPr>
          <a:xfrm>
            <a:off x="7726680" y="1554480"/>
            <a:ext cx="548640" cy="777240"/>
          </a:xfrm>
          <a:prstGeom prst="rect">
            <a:avLst/>
          </a:prstGeom>
          <a:noFill/>
          <a:ln/>
        </p:spPr>
        <p:txBody>
          <a:bodyPr wrap="square" lIns="0" tIns="0" rIns="0" bIns="0" rtlCol="0" anchor="ctr"/>
          <a:lstStyle/>
          <a:p>
            <a:pPr algn="ctr" indent="0" marL="0">
              <a:buNone/>
            </a:pPr>
            <a:r>
              <a:rPr lang="en-US" sz="2200" b="1" dirty="0">
                <a:solidFill>
                  <a:srgbClr val="E2892F"/>
                </a:solidFill>
                <a:latin typeface="Calibri" pitchFamily="34" charset="0"/>
                <a:ea typeface="Calibri" pitchFamily="34" charset="-122"/>
                <a:cs typeface="Calibri" pitchFamily="34" charset="-120"/>
              </a:rPr>
              <a:t>→</a:t>
            </a:r>
            <a:endParaRPr lang="en-US" sz="2200" dirty="0"/>
          </a:p>
        </p:txBody>
      </p:sp>
      <p:sp>
        <p:nvSpPr>
          <p:cNvPr id="25" name="Text 20"/>
          <p:cNvSpPr txBox="1"/>
          <p:nvPr/>
        </p:nvSpPr>
        <p:spPr>
          <a:xfrm>
            <a:off x="822960" y="3154680"/>
            <a:ext cx="5029200" cy="256032"/>
          </a:xfrm>
          <a:prstGeom prst="rect">
            <a:avLst/>
          </a:prstGeom>
          <a:noFill/>
          <a:ln/>
        </p:spPr>
        <p:txBody>
          <a:bodyPr wrap="square" lIns="0" tIns="0" rIns="0" bIns="0" rtlCol="0" anchor="ctr"/>
          <a:lstStyle/>
          <a:p>
            <a:pPr indent="0" marL="0">
              <a:buNone/>
            </a:pPr>
            <a:r>
              <a:rPr lang="en-US" sz="1100" b="1" spc="100" kern="0" dirty="0">
                <a:solidFill>
                  <a:srgbClr val="E2892F"/>
                </a:solidFill>
                <a:latin typeface="Calibri" pitchFamily="34" charset="0"/>
                <a:ea typeface="Calibri" pitchFamily="34" charset="-122"/>
                <a:cs typeface="Calibri" pitchFamily="34" charset="-120"/>
              </a:rPr>
              <a:t>BACK END</a:t>
            </a:r>
            <a:endParaRPr lang="en-US" sz="1100" dirty="0"/>
          </a:p>
        </p:txBody>
      </p:sp>
      <p:sp>
        <p:nvSpPr>
          <p:cNvPr id="26" name="Shape 21"/>
          <p:cNvSpPr/>
          <p:nvPr/>
        </p:nvSpPr>
        <p:spPr>
          <a:xfrm>
            <a:off x="822960" y="3456432"/>
            <a:ext cx="2491740" cy="1097280"/>
          </a:xfrm>
          <a:prstGeom prst="roundRect">
            <a:avLst>
              <a:gd name="adj" fmla="val 7500"/>
            </a:avLst>
          </a:prstGeom>
          <a:solidFill>
            <a:srgbClr val="FFFFFF"/>
          </a:solidFill>
          <a:ln/>
          <a:effectLst>
            <a:outerShdw sx="100000" sy="100000" kx="0" ky="0" algn="bl" rotWithShape="0" blurRad="63500" dist="25400" dir="5400000">
              <a:srgbClr val="0B3556">
                <a:alpha val="9000"/>
              </a:srgbClr>
            </a:outerShdw>
          </a:effectLst>
        </p:spPr>
      </p:sp>
      <p:sp>
        <p:nvSpPr>
          <p:cNvPr id="27" name="Shape 22"/>
          <p:cNvSpPr/>
          <p:nvPr/>
        </p:nvSpPr>
        <p:spPr>
          <a:xfrm>
            <a:off x="969264" y="3584448"/>
            <a:ext cx="347472" cy="347472"/>
          </a:xfrm>
          <a:prstGeom prst="ellipse">
            <a:avLst/>
          </a:prstGeom>
          <a:solidFill>
            <a:srgbClr val="0B3556"/>
          </a:solidFill>
          <a:ln/>
        </p:spPr>
      </p:sp>
      <p:pic>
        <p:nvPicPr>
          <p:cNvPr id="28" name="Image 3" descr="preencoded.png">    </p:cNvPr>
          <p:cNvPicPr>
            <a:picLocks noChangeAspect="1"/>
          </p:cNvPicPr>
          <p:nvPr/>
        </p:nvPicPr>
        <p:blipFill>
          <a:blip r:embed="rId4"/>
          <a:stretch>
            <a:fillRect/>
          </a:stretch>
        </p:blipFill>
        <p:spPr>
          <a:xfrm>
            <a:off x="1059607" y="3674791"/>
            <a:ext cx="166787" cy="166787"/>
          </a:xfrm>
          <a:prstGeom prst="rect">
            <a:avLst/>
          </a:prstGeom>
        </p:spPr>
      </p:pic>
      <p:sp>
        <p:nvSpPr>
          <p:cNvPr id="29" name="Text 23"/>
          <p:cNvSpPr txBox="1"/>
          <p:nvPr/>
        </p:nvSpPr>
        <p:spPr>
          <a:xfrm>
            <a:off x="969264" y="3968496"/>
            <a:ext cx="2199132" cy="310896"/>
          </a:xfrm>
          <a:prstGeom prst="rect">
            <a:avLst/>
          </a:prstGeom>
          <a:noFill/>
          <a:ln/>
        </p:spPr>
        <p:txBody>
          <a:bodyPr wrap="square" lIns="0" tIns="0" rIns="0" bIns="0" rtlCol="0" anchor="t"/>
          <a:lstStyle/>
          <a:p>
            <a:pPr indent="0" marL="0">
              <a:lnSpc>
                <a:spcPct val="102000"/>
              </a:lnSpc>
              <a:buNone/>
            </a:pPr>
            <a:r>
              <a:rPr lang="en-US" sz="950" b="1" dirty="0">
                <a:solidFill>
                  <a:srgbClr val="0B3556"/>
                </a:solidFill>
                <a:latin typeface="Cambria" pitchFamily="34" charset="0"/>
                <a:ea typeface="Cambria" pitchFamily="34" charset="-122"/>
                <a:cs typeface="Cambria" pitchFamily="34" charset="-120"/>
              </a:rPr>
              <a:t>Node.js 18+ · Express 4.19</a:t>
            </a:r>
            <a:endParaRPr lang="en-US" sz="950" dirty="0"/>
          </a:p>
        </p:txBody>
      </p:sp>
      <p:sp>
        <p:nvSpPr>
          <p:cNvPr id="30" name="Text 24"/>
          <p:cNvSpPr txBox="1"/>
          <p:nvPr/>
        </p:nvSpPr>
        <p:spPr>
          <a:xfrm>
            <a:off x="969264" y="4279392"/>
            <a:ext cx="2199132" cy="237744"/>
          </a:xfrm>
          <a:prstGeom prst="rect">
            <a:avLst/>
          </a:prstGeom>
          <a:noFill/>
          <a:ln/>
        </p:spPr>
        <p:txBody>
          <a:bodyPr wrap="square" lIns="0" tIns="0" rIns="0" bIns="0" rtlCol="0" anchor="t"/>
          <a:lstStyle/>
          <a:p>
            <a:pPr indent="0" marL="0">
              <a:lnSpc>
                <a:spcPct val="105000"/>
              </a:lnSpc>
              <a:buNone/>
            </a:pPr>
            <a:r>
              <a:rPr lang="en-US" sz="800" dirty="0">
                <a:solidFill>
                  <a:srgbClr val="55677A"/>
                </a:solidFill>
                <a:latin typeface="Calibri" pitchFamily="34" charset="0"/>
                <a:ea typeface="Calibri" pitchFamily="34" charset="-122"/>
                <a:cs typeface="Calibri" pitchFamily="34" charset="-120"/>
              </a:rPr>
              <a:t>Ambiente e libreria del server; v18 per la fetch integrata.</a:t>
            </a:r>
            <a:endParaRPr lang="en-US" sz="800" dirty="0"/>
          </a:p>
        </p:txBody>
      </p:sp>
      <p:sp>
        <p:nvSpPr>
          <p:cNvPr id="31" name="Shape 25"/>
          <p:cNvSpPr/>
          <p:nvPr/>
        </p:nvSpPr>
        <p:spPr>
          <a:xfrm>
            <a:off x="3497580" y="3456432"/>
            <a:ext cx="2491740" cy="1097280"/>
          </a:xfrm>
          <a:prstGeom prst="roundRect">
            <a:avLst>
              <a:gd name="adj" fmla="val 7500"/>
            </a:avLst>
          </a:prstGeom>
          <a:solidFill>
            <a:srgbClr val="FFFFFF"/>
          </a:solidFill>
          <a:ln/>
          <a:effectLst>
            <a:outerShdw sx="100000" sy="100000" kx="0" ky="0" algn="bl" rotWithShape="0" blurRad="63500" dist="25400" dir="5400000">
              <a:srgbClr val="0B3556">
                <a:alpha val="9000"/>
              </a:srgbClr>
            </a:outerShdw>
          </a:effectLst>
        </p:spPr>
      </p:sp>
      <p:sp>
        <p:nvSpPr>
          <p:cNvPr id="32" name="Shape 26"/>
          <p:cNvSpPr/>
          <p:nvPr/>
        </p:nvSpPr>
        <p:spPr>
          <a:xfrm>
            <a:off x="3643884" y="3584448"/>
            <a:ext cx="347472" cy="347472"/>
          </a:xfrm>
          <a:prstGeom prst="ellipse">
            <a:avLst/>
          </a:prstGeom>
          <a:solidFill>
            <a:srgbClr val="0B3556"/>
          </a:solidFill>
          <a:ln/>
        </p:spPr>
      </p:sp>
      <p:pic>
        <p:nvPicPr>
          <p:cNvPr id="33" name="Image 4" descr="preencoded.png">    </p:cNvPr>
          <p:cNvPicPr>
            <a:picLocks noChangeAspect="1"/>
          </p:cNvPicPr>
          <p:nvPr/>
        </p:nvPicPr>
        <p:blipFill>
          <a:blip r:embed="rId5"/>
          <a:stretch>
            <a:fillRect/>
          </a:stretch>
        </p:blipFill>
        <p:spPr>
          <a:xfrm>
            <a:off x="3734227" y="3674791"/>
            <a:ext cx="166787" cy="166787"/>
          </a:xfrm>
          <a:prstGeom prst="rect">
            <a:avLst/>
          </a:prstGeom>
        </p:spPr>
      </p:pic>
      <p:sp>
        <p:nvSpPr>
          <p:cNvPr id="34" name="Text 27"/>
          <p:cNvSpPr txBox="1"/>
          <p:nvPr/>
        </p:nvSpPr>
        <p:spPr>
          <a:xfrm>
            <a:off x="3643884" y="3968496"/>
            <a:ext cx="2199132" cy="310896"/>
          </a:xfrm>
          <a:prstGeom prst="rect">
            <a:avLst/>
          </a:prstGeom>
          <a:noFill/>
          <a:ln/>
        </p:spPr>
        <p:txBody>
          <a:bodyPr wrap="square" lIns="0" tIns="0" rIns="0" bIns="0" rtlCol="0" anchor="t"/>
          <a:lstStyle/>
          <a:p>
            <a:pPr indent="0" marL="0">
              <a:lnSpc>
                <a:spcPct val="102000"/>
              </a:lnSpc>
              <a:buNone/>
            </a:pPr>
            <a:r>
              <a:rPr lang="en-US" sz="950" b="1" dirty="0">
                <a:solidFill>
                  <a:srgbClr val="0B3556"/>
                </a:solidFill>
                <a:latin typeface="Cambria" pitchFamily="34" charset="0"/>
                <a:ea typeface="Cambria" pitchFamily="34" charset="-122"/>
                <a:cs typeface="Cambria" pitchFamily="34" charset="-120"/>
              </a:rPr>
              <a:t>@supabase/supabase-js 2.45</a:t>
            </a:r>
            <a:endParaRPr lang="en-US" sz="950" dirty="0"/>
          </a:p>
        </p:txBody>
      </p:sp>
      <p:sp>
        <p:nvSpPr>
          <p:cNvPr id="35" name="Text 28"/>
          <p:cNvSpPr txBox="1"/>
          <p:nvPr/>
        </p:nvSpPr>
        <p:spPr>
          <a:xfrm>
            <a:off x="3643884" y="4279392"/>
            <a:ext cx="2199132" cy="237744"/>
          </a:xfrm>
          <a:prstGeom prst="rect">
            <a:avLst/>
          </a:prstGeom>
          <a:noFill/>
          <a:ln/>
        </p:spPr>
        <p:txBody>
          <a:bodyPr wrap="square" lIns="0" tIns="0" rIns="0" bIns="0" rtlCol="0" anchor="t"/>
          <a:lstStyle/>
          <a:p>
            <a:pPr indent="0" marL="0">
              <a:lnSpc>
                <a:spcPct val="105000"/>
              </a:lnSpc>
              <a:buNone/>
            </a:pPr>
            <a:r>
              <a:rPr lang="en-US" sz="800" dirty="0">
                <a:solidFill>
                  <a:srgbClr val="55677A"/>
                </a:solidFill>
                <a:latin typeface="Calibri" pitchFamily="34" charset="0"/>
                <a:ea typeface="Calibri" pitchFamily="34" charset="-122"/>
                <a:cs typeface="Calibri" pitchFamily="34" charset="-120"/>
              </a:rPr>
              <a:t>Collega il server al database e alla gestione del login.</a:t>
            </a:r>
            <a:endParaRPr lang="en-US" sz="800" dirty="0"/>
          </a:p>
        </p:txBody>
      </p:sp>
      <p:sp>
        <p:nvSpPr>
          <p:cNvPr id="36" name="Shape 29"/>
          <p:cNvSpPr/>
          <p:nvPr/>
        </p:nvSpPr>
        <p:spPr>
          <a:xfrm>
            <a:off x="6172200" y="3456432"/>
            <a:ext cx="2491740" cy="1097280"/>
          </a:xfrm>
          <a:prstGeom prst="roundRect">
            <a:avLst>
              <a:gd name="adj" fmla="val 7500"/>
            </a:avLst>
          </a:prstGeom>
          <a:solidFill>
            <a:srgbClr val="FFFFFF"/>
          </a:solidFill>
          <a:ln/>
          <a:effectLst>
            <a:outerShdw sx="100000" sy="100000" kx="0" ky="0" algn="bl" rotWithShape="0" blurRad="63500" dist="25400" dir="5400000">
              <a:srgbClr val="0B3556">
                <a:alpha val="9000"/>
              </a:srgbClr>
            </a:outerShdw>
          </a:effectLst>
        </p:spPr>
      </p:sp>
      <p:sp>
        <p:nvSpPr>
          <p:cNvPr id="37" name="Shape 30"/>
          <p:cNvSpPr/>
          <p:nvPr/>
        </p:nvSpPr>
        <p:spPr>
          <a:xfrm>
            <a:off x="6318504" y="3584448"/>
            <a:ext cx="347472" cy="347472"/>
          </a:xfrm>
          <a:prstGeom prst="ellipse">
            <a:avLst/>
          </a:prstGeom>
          <a:solidFill>
            <a:srgbClr val="0B3556"/>
          </a:solidFill>
          <a:ln/>
        </p:spPr>
      </p:sp>
      <p:pic>
        <p:nvPicPr>
          <p:cNvPr id="38" name="Image 5" descr="preencoded.png">    </p:cNvPr>
          <p:cNvPicPr>
            <a:picLocks noChangeAspect="1"/>
          </p:cNvPicPr>
          <p:nvPr/>
        </p:nvPicPr>
        <p:blipFill>
          <a:blip r:embed="rId6"/>
          <a:stretch>
            <a:fillRect/>
          </a:stretch>
        </p:blipFill>
        <p:spPr>
          <a:xfrm>
            <a:off x="6408847" y="3674791"/>
            <a:ext cx="166787" cy="166787"/>
          </a:xfrm>
          <a:prstGeom prst="rect">
            <a:avLst/>
          </a:prstGeom>
        </p:spPr>
      </p:pic>
      <p:sp>
        <p:nvSpPr>
          <p:cNvPr id="39" name="Text 31"/>
          <p:cNvSpPr txBox="1"/>
          <p:nvPr/>
        </p:nvSpPr>
        <p:spPr>
          <a:xfrm>
            <a:off x="6318504" y="3968496"/>
            <a:ext cx="2199132" cy="310896"/>
          </a:xfrm>
          <a:prstGeom prst="rect">
            <a:avLst/>
          </a:prstGeom>
          <a:noFill/>
          <a:ln/>
        </p:spPr>
        <p:txBody>
          <a:bodyPr wrap="square" lIns="0" tIns="0" rIns="0" bIns="0" rtlCol="0" anchor="t"/>
          <a:lstStyle/>
          <a:p>
            <a:pPr indent="0" marL="0">
              <a:lnSpc>
                <a:spcPct val="102000"/>
              </a:lnSpc>
              <a:buNone/>
            </a:pPr>
            <a:r>
              <a:rPr lang="en-US" sz="950" b="1" dirty="0">
                <a:solidFill>
                  <a:srgbClr val="0B3556"/>
                </a:solidFill>
                <a:latin typeface="Cambria" pitchFamily="34" charset="0"/>
                <a:ea typeface="Cambria" pitchFamily="34" charset="-122"/>
                <a:cs typeface="Cambria" pitchFamily="34" charset="-120"/>
              </a:rPr>
              <a:t>dotenv 16.4</a:t>
            </a:r>
            <a:endParaRPr lang="en-US" sz="950" dirty="0"/>
          </a:p>
        </p:txBody>
      </p:sp>
      <p:sp>
        <p:nvSpPr>
          <p:cNvPr id="40" name="Text 32"/>
          <p:cNvSpPr txBox="1"/>
          <p:nvPr/>
        </p:nvSpPr>
        <p:spPr>
          <a:xfrm>
            <a:off x="6318504" y="4279392"/>
            <a:ext cx="2199132" cy="237744"/>
          </a:xfrm>
          <a:prstGeom prst="rect">
            <a:avLst/>
          </a:prstGeom>
          <a:noFill/>
          <a:ln/>
        </p:spPr>
        <p:txBody>
          <a:bodyPr wrap="square" lIns="0" tIns="0" rIns="0" bIns="0" rtlCol="0" anchor="t"/>
          <a:lstStyle/>
          <a:p>
            <a:pPr indent="0" marL="0">
              <a:lnSpc>
                <a:spcPct val="105000"/>
              </a:lnSpc>
              <a:buNone/>
            </a:pPr>
            <a:r>
              <a:rPr lang="en-US" sz="800" dirty="0">
                <a:solidFill>
                  <a:srgbClr val="55677A"/>
                </a:solidFill>
                <a:latin typeface="Calibri" pitchFamily="34" charset="0"/>
                <a:ea typeface="Calibri" pitchFamily="34" charset="-122"/>
                <a:cs typeface="Calibri" pitchFamily="34" charset="-120"/>
              </a:rPr>
              <a:t>Tiene le chiavi segrete fuori dal codice, in un file a parte.</a:t>
            </a:r>
            <a:endParaRPr lang="en-US" sz="800" dirty="0"/>
          </a:p>
        </p:txBody>
      </p:sp>
      <p:sp>
        <p:nvSpPr>
          <p:cNvPr id="41" name="Shape 33"/>
          <p:cNvSpPr/>
          <p:nvPr/>
        </p:nvSpPr>
        <p:spPr>
          <a:xfrm>
            <a:off x="8846820" y="3456432"/>
            <a:ext cx="2491740" cy="1097280"/>
          </a:xfrm>
          <a:prstGeom prst="roundRect">
            <a:avLst>
              <a:gd name="adj" fmla="val 7500"/>
            </a:avLst>
          </a:prstGeom>
          <a:solidFill>
            <a:srgbClr val="FFFFFF"/>
          </a:solidFill>
          <a:ln/>
          <a:effectLst>
            <a:outerShdw sx="100000" sy="100000" kx="0" ky="0" algn="bl" rotWithShape="0" blurRad="63500" dist="25400" dir="5400000">
              <a:srgbClr val="0B3556">
                <a:alpha val="9000"/>
              </a:srgbClr>
            </a:outerShdw>
          </a:effectLst>
        </p:spPr>
      </p:sp>
      <p:sp>
        <p:nvSpPr>
          <p:cNvPr id="42" name="Shape 34"/>
          <p:cNvSpPr/>
          <p:nvPr/>
        </p:nvSpPr>
        <p:spPr>
          <a:xfrm>
            <a:off x="8993124" y="3584448"/>
            <a:ext cx="347472" cy="347472"/>
          </a:xfrm>
          <a:prstGeom prst="ellipse">
            <a:avLst/>
          </a:prstGeom>
          <a:solidFill>
            <a:srgbClr val="0B3556"/>
          </a:solidFill>
          <a:ln/>
        </p:spPr>
      </p:sp>
      <p:pic>
        <p:nvPicPr>
          <p:cNvPr id="43" name="Image 6" descr="preencoded.png">    </p:cNvPr>
          <p:cNvPicPr>
            <a:picLocks noChangeAspect="1"/>
          </p:cNvPicPr>
          <p:nvPr/>
        </p:nvPicPr>
        <p:blipFill>
          <a:blip r:embed="rId7"/>
          <a:stretch>
            <a:fillRect/>
          </a:stretch>
        </p:blipFill>
        <p:spPr>
          <a:xfrm>
            <a:off x="9083467" y="3674791"/>
            <a:ext cx="166787" cy="166787"/>
          </a:xfrm>
          <a:prstGeom prst="rect">
            <a:avLst/>
          </a:prstGeom>
        </p:spPr>
      </p:pic>
      <p:sp>
        <p:nvSpPr>
          <p:cNvPr id="44" name="Text 35"/>
          <p:cNvSpPr txBox="1"/>
          <p:nvPr/>
        </p:nvSpPr>
        <p:spPr>
          <a:xfrm>
            <a:off x="8993124" y="3968496"/>
            <a:ext cx="2199132" cy="310896"/>
          </a:xfrm>
          <a:prstGeom prst="rect">
            <a:avLst/>
          </a:prstGeom>
          <a:noFill/>
          <a:ln/>
        </p:spPr>
        <p:txBody>
          <a:bodyPr wrap="square" lIns="0" tIns="0" rIns="0" bIns="0" rtlCol="0" anchor="t"/>
          <a:lstStyle/>
          <a:p>
            <a:pPr indent="0" marL="0">
              <a:lnSpc>
                <a:spcPct val="102000"/>
              </a:lnSpc>
              <a:buNone/>
            </a:pPr>
            <a:r>
              <a:rPr lang="en-US" sz="950" b="1" dirty="0">
                <a:solidFill>
                  <a:srgbClr val="0B3556"/>
                </a:solidFill>
                <a:latin typeface="Cambria" pitchFamily="34" charset="0"/>
                <a:ea typeface="Cambria" pitchFamily="34" charset="-122"/>
                <a:cs typeface="Cambria" pitchFamily="34" charset="-120"/>
              </a:rPr>
              <a:t>nodemailer</a:t>
            </a:r>
            <a:endParaRPr lang="en-US" sz="950" dirty="0"/>
          </a:p>
        </p:txBody>
      </p:sp>
      <p:sp>
        <p:nvSpPr>
          <p:cNvPr id="45" name="Text 36"/>
          <p:cNvSpPr txBox="1"/>
          <p:nvPr/>
        </p:nvSpPr>
        <p:spPr>
          <a:xfrm>
            <a:off x="8993124" y="4279392"/>
            <a:ext cx="2199132" cy="237744"/>
          </a:xfrm>
          <a:prstGeom prst="rect">
            <a:avLst/>
          </a:prstGeom>
          <a:noFill/>
          <a:ln/>
        </p:spPr>
        <p:txBody>
          <a:bodyPr wrap="square" lIns="0" tIns="0" rIns="0" bIns="0" rtlCol="0" anchor="t"/>
          <a:lstStyle/>
          <a:p>
            <a:pPr indent="0" marL="0">
              <a:lnSpc>
                <a:spcPct val="105000"/>
              </a:lnSpc>
              <a:buNone/>
            </a:pPr>
            <a:r>
              <a:rPr lang="en-US" sz="800" dirty="0">
                <a:solidFill>
                  <a:srgbClr val="55677A"/>
                </a:solidFill>
                <a:latin typeface="Calibri" pitchFamily="34" charset="0"/>
                <a:ea typeface="Calibri" pitchFamily="34" charset="-122"/>
                <a:cs typeface="Calibri" pitchFamily="34" charset="-120"/>
              </a:rPr>
              <a:t>Invia le email del sito da una casella Gmail dedicata.</a:t>
            </a:r>
            <a:endParaRPr lang="en-US" sz="800" dirty="0"/>
          </a:p>
        </p:txBody>
      </p:sp>
      <p:sp>
        <p:nvSpPr>
          <p:cNvPr id="46" name="Text 37"/>
          <p:cNvSpPr txBox="1"/>
          <p:nvPr/>
        </p:nvSpPr>
        <p:spPr>
          <a:xfrm>
            <a:off x="822960" y="4690872"/>
            <a:ext cx="5029200" cy="256032"/>
          </a:xfrm>
          <a:prstGeom prst="rect">
            <a:avLst/>
          </a:prstGeom>
          <a:noFill/>
          <a:ln/>
        </p:spPr>
        <p:txBody>
          <a:bodyPr wrap="square" lIns="0" tIns="0" rIns="0" bIns="0" rtlCol="0" anchor="ctr"/>
          <a:lstStyle/>
          <a:p>
            <a:pPr indent="0" marL="0">
              <a:buNone/>
            </a:pPr>
            <a:r>
              <a:rPr lang="en-US" sz="1100" b="1" spc="100" kern="0" dirty="0">
                <a:solidFill>
                  <a:srgbClr val="E2892F"/>
                </a:solidFill>
                <a:latin typeface="Calibri" pitchFamily="34" charset="0"/>
                <a:ea typeface="Calibri" pitchFamily="34" charset="-122"/>
                <a:cs typeface="Calibri" pitchFamily="34" charset="-120"/>
              </a:rPr>
              <a:t>FRONT END</a:t>
            </a:r>
            <a:endParaRPr lang="en-US" sz="1100" dirty="0"/>
          </a:p>
        </p:txBody>
      </p:sp>
      <p:sp>
        <p:nvSpPr>
          <p:cNvPr id="47" name="Shape 38"/>
          <p:cNvSpPr/>
          <p:nvPr/>
        </p:nvSpPr>
        <p:spPr>
          <a:xfrm>
            <a:off x="822960" y="4992624"/>
            <a:ext cx="2491740" cy="1097280"/>
          </a:xfrm>
          <a:prstGeom prst="roundRect">
            <a:avLst>
              <a:gd name="adj" fmla="val 7500"/>
            </a:avLst>
          </a:prstGeom>
          <a:solidFill>
            <a:srgbClr val="FFFFFF"/>
          </a:solidFill>
          <a:ln/>
          <a:effectLst>
            <a:outerShdw sx="100000" sy="100000" kx="0" ky="0" algn="bl" rotWithShape="0" blurRad="63500" dist="25400" dir="5400000">
              <a:srgbClr val="0B3556">
                <a:alpha val="9000"/>
              </a:srgbClr>
            </a:outerShdw>
          </a:effectLst>
        </p:spPr>
      </p:sp>
      <p:sp>
        <p:nvSpPr>
          <p:cNvPr id="48" name="Shape 39"/>
          <p:cNvSpPr/>
          <p:nvPr/>
        </p:nvSpPr>
        <p:spPr>
          <a:xfrm>
            <a:off x="969264" y="5120640"/>
            <a:ext cx="347472" cy="347472"/>
          </a:xfrm>
          <a:prstGeom prst="ellipse">
            <a:avLst/>
          </a:prstGeom>
          <a:solidFill>
            <a:srgbClr val="0B3556"/>
          </a:solidFill>
          <a:ln/>
        </p:spPr>
      </p:sp>
      <p:pic>
        <p:nvPicPr>
          <p:cNvPr id="49" name="Image 7" descr="preencoded.png">    </p:cNvPr>
          <p:cNvPicPr>
            <a:picLocks noChangeAspect="1"/>
          </p:cNvPicPr>
          <p:nvPr/>
        </p:nvPicPr>
        <p:blipFill>
          <a:blip r:embed="rId8"/>
          <a:stretch>
            <a:fillRect/>
          </a:stretch>
        </p:blipFill>
        <p:spPr>
          <a:xfrm>
            <a:off x="1059607" y="5210983"/>
            <a:ext cx="166787" cy="166787"/>
          </a:xfrm>
          <a:prstGeom prst="rect">
            <a:avLst/>
          </a:prstGeom>
        </p:spPr>
      </p:pic>
      <p:sp>
        <p:nvSpPr>
          <p:cNvPr id="50" name="Text 40"/>
          <p:cNvSpPr txBox="1"/>
          <p:nvPr/>
        </p:nvSpPr>
        <p:spPr>
          <a:xfrm>
            <a:off x="969264" y="5504688"/>
            <a:ext cx="2199132" cy="310896"/>
          </a:xfrm>
          <a:prstGeom prst="rect">
            <a:avLst/>
          </a:prstGeom>
          <a:noFill/>
          <a:ln/>
        </p:spPr>
        <p:txBody>
          <a:bodyPr wrap="square" lIns="0" tIns="0" rIns="0" bIns="0" rtlCol="0" anchor="t"/>
          <a:lstStyle/>
          <a:p>
            <a:pPr indent="0" marL="0">
              <a:lnSpc>
                <a:spcPct val="102000"/>
              </a:lnSpc>
              <a:buNone/>
            </a:pPr>
            <a:r>
              <a:rPr lang="en-US" sz="950" b="1" dirty="0">
                <a:solidFill>
                  <a:srgbClr val="0B3556"/>
                </a:solidFill>
                <a:latin typeface="Cambria" pitchFamily="34" charset="0"/>
                <a:ea typeface="Cambria" pitchFamily="34" charset="-122"/>
                <a:cs typeface="Cambria" pitchFamily="34" charset="-120"/>
              </a:rPr>
              <a:t>HTML, CSS e JS "puro"</a:t>
            </a:r>
            <a:endParaRPr lang="en-US" sz="950" dirty="0"/>
          </a:p>
        </p:txBody>
      </p:sp>
      <p:sp>
        <p:nvSpPr>
          <p:cNvPr id="51" name="Text 41"/>
          <p:cNvSpPr txBox="1"/>
          <p:nvPr/>
        </p:nvSpPr>
        <p:spPr>
          <a:xfrm>
            <a:off x="969264" y="5815584"/>
            <a:ext cx="2199132" cy="237744"/>
          </a:xfrm>
          <a:prstGeom prst="rect">
            <a:avLst/>
          </a:prstGeom>
          <a:noFill/>
          <a:ln/>
        </p:spPr>
        <p:txBody>
          <a:bodyPr wrap="square" lIns="0" tIns="0" rIns="0" bIns="0" rtlCol="0" anchor="t"/>
          <a:lstStyle/>
          <a:p>
            <a:pPr indent="0" marL="0">
              <a:lnSpc>
                <a:spcPct val="105000"/>
              </a:lnSpc>
              <a:buNone/>
            </a:pPr>
            <a:r>
              <a:rPr lang="en-US" sz="800" dirty="0">
                <a:solidFill>
                  <a:srgbClr val="55677A"/>
                </a:solidFill>
                <a:latin typeface="Calibri" pitchFamily="34" charset="0"/>
                <a:ea typeface="Calibri" pitchFamily="34" charset="-122"/>
                <a:cs typeface="Calibri" pitchFamily="34" charset="-120"/>
              </a:rPr>
              <a:t>Tutto in index.html: niente framework, niente build.</a:t>
            </a:r>
            <a:endParaRPr lang="en-US" sz="800" dirty="0"/>
          </a:p>
        </p:txBody>
      </p:sp>
      <p:sp>
        <p:nvSpPr>
          <p:cNvPr id="52" name="Shape 42"/>
          <p:cNvSpPr/>
          <p:nvPr/>
        </p:nvSpPr>
        <p:spPr>
          <a:xfrm>
            <a:off x="3497580" y="4992624"/>
            <a:ext cx="2491740" cy="1097280"/>
          </a:xfrm>
          <a:prstGeom prst="roundRect">
            <a:avLst>
              <a:gd name="adj" fmla="val 7500"/>
            </a:avLst>
          </a:prstGeom>
          <a:solidFill>
            <a:srgbClr val="FFFFFF"/>
          </a:solidFill>
          <a:ln/>
          <a:effectLst>
            <a:outerShdw sx="100000" sy="100000" kx="0" ky="0" algn="bl" rotWithShape="0" blurRad="63500" dist="25400" dir="5400000">
              <a:srgbClr val="0B3556">
                <a:alpha val="9000"/>
              </a:srgbClr>
            </a:outerShdw>
          </a:effectLst>
        </p:spPr>
      </p:sp>
      <p:sp>
        <p:nvSpPr>
          <p:cNvPr id="53" name="Shape 43"/>
          <p:cNvSpPr/>
          <p:nvPr/>
        </p:nvSpPr>
        <p:spPr>
          <a:xfrm>
            <a:off x="3643884" y="5120640"/>
            <a:ext cx="347472" cy="347472"/>
          </a:xfrm>
          <a:prstGeom prst="ellipse">
            <a:avLst/>
          </a:prstGeom>
          <a:solidFill>
            <a:srgbClr val="0B3556"/>
          </a:solidFill>
          <a:ln/>
        </p:spPr>
      </p:sp>
      <p:pic>
        <p:nvPicPr>
          <p:cNvPr id="54" name="Image 8" descr="preencoded.png">    </p:cNvPr>
          <p:cNvPicPr>
            <a:picLocks noChangeAspect="1"/>
          </p:cNvPicPr>
          <p:nvPr/>
        </p:nvPicPr>
        <p:blipFill>
          <a:blip r:embed="rId9"/>
          <a:stretch>
            <a:fillRect/>
          </a:stretch>
        </p:blipFill>
        <p:spPr>
          <a:xfrm>
            <a:off x="3734227" y="5210983"/>
            <a:ext cx="166787" cy="166787"/>
          </a:xfrm>
          <a:prstGeom prst="rect">
            <a:avLst/>
          </a:prstGeom>
        </p:spPr>
      </p:pic>
      <p:sp>
        <p:nvSpPr>
          <p:cNvPr id="55" name="Text 44"/>
          <p:cNvSpPr txBox="1"/>
          <p:nvPr/>
        </p:nvSpPr>
        <p:spPr>
          <a:xfrm>
            <a:off x="3643884" y="5504688"/>
            <a:ext cx="2199132" cy="310896"/>
          </a:xfrm>
          <a:prstGeom prst="rect">
            <a:avLst/>
          </a:prstGeom>
          <a:noFill/>
          <a:ln/>
        </p:spPr>
        <p:txBody>
          <a:bodyPr wrap="square" lIns="0" tIns="0" rIns="0" bIns="0" rtlCol="0" anchor="t"/>
          <a:lstStyle/>
          <a:p>
            <a:pPr indent="0" marL="0">
              <a:lnSpc>
                <a:spcPct val="102000"/>
              </a:lnSpc>
              <a:buNone/>
            </a:pPr>
            <a:r>
              <a:rPr lang="en-US" sz="950" b="1" dirty="0">
                <a:solidFill>
                  <a:srgbClr val="0B3556"/>
                </a:solidFill>
                <a:latin typeface="Cambria" pitchFamily="34" charset="0"/>
                <a:ea typeface="Cambria" pitchFamily="34" charset="-122"/>
                <a:cs typeface="Cambria" pitchFamily="34" charset="-120"/>
              </a:rPr>
              <a:t>supabase-js (da CDN)</a:t>
            </a:r>
            <a:endParaRPr lang="en-US" sz="950" dirty="0"/>
          </a:p>
        </p:txBody>
      </p:sp>
      <p:sp>
        <p:nvSpPr>
          <p:cNvPr id="56" name="Text 45"/>
          <p:cNvSpPr txBox="1"/>
          <p:nvPr/>
        </p:nvSpPr>
        <p:spPr>
          <a:xfrm>
            <a:off x="3643884" y="5815584"/>
            <a:ext cx="2199132" cy="237744"/>
          </a:xfrm>
          <a:prstGeom prst="rect">
            <a:avLst/>
          </a:prstGeom>
          <a:noFill/>
          <a:ln/>
        </p:spPr>
        <p:txBody>
          <a:bodyPr wrap="square" lIns="0" tIns="0" rIns="0" bIns="0" rtlCol="0" anchor="t"/>
          <a:lstStyle/>
          <a:p>
            <a:pPr indent="0" marL="0">
              <a:lnSpc>
                <a:spcPct val="105000"/>
              </a:lnSpc>
              <a:buNone/>
            </a:pPr>
            <a:r>
              <a:rPr lang="en-US" sz="800" dirty="0">
                <a:solidFill>
                  <a:srgbClr val="55677A"/>
                </a:solidFill>
                <a:latin typeface="Calibri" pitchFamily="34" charset="0"/>
                <a:ea typeface="Calibri" pitchFamily="34" charset="-122"/>
                <a:cs typeface="Calibri" pitchFamily="34" charset="-120"/>
              </a:rPr>
              <a:t>Gestisce login, recupero password e sessione nel browser.</a:t>
            </a:r>
            <a:endParaRPr lang="en-US" sz="800" dirty="0"/>
          </a:p>
        </p:txBody>
      </p:sp>
      <p:sp>
        <p:nvSpPr>
          <p:cNvPr id="57" name="Shape 46"/>
          <p:cNvSpPr/>
          <p:nvPr/>
        </p:nvSpPr>
        <p:spPr>
          <a:xfrm>
            <a:off x="6172200" y="4992624"/>
            <a:ext cx="2491740" cy="1097280"/>
          </a:xfrm>
          <a:prstGeom prst="roundRect">
            <a:avLst>
              <a:gd name="adj" fmla="val 7500"/>
            </a:avLst>
          </a:prstGeom>
          <a:solidFill>
            <a:srgbClr val="FFFFFF"/>
          </a:solidFill>
          <a:ln/>
          <a:effectLst>
            <a:outerShdw sx="100000" sy="100000" kx="0" ky="0" algn="bl" rotWithShape="0" blurRad="63500" dist="25400" dir="5400000">
              <a:srgbClr val="0B3556">
                <a:alpha val="9000"/>
              </a:srgbClr>
            </a:outerShdw>
          </a:effectLst>
        </p:spPr>
      </p:sp>
      <p:sp>
        <p:nvSpPr>
          <p:cNvPr id="58" name="Shape 47"/>
          <p:cNvSpPr/>
          <p:nvPr/>
        </p:nvSpPr>
        <p:spPr>
          <a:xfrm>
            <a:off x="6318504" y="5120640"/>
            <a:ext cx="347472" cy="347472"/>
          </a:xfrm>
          <a:prstGeom prst="ellipse">
            <a:avLst/>
          </a:prstGeom>
          <a:solidFill>
            <a:srgbClr val="0B3556"/>
          </a:solidFill>
          <a:ln/>
        </p:spPr>
      </p:sp>
      <p:pic>
        <p:nvPicPr>
          <p:cNvPr id="59" name="Image 9" descr="preencoded.png">    </p:cNvPr>
          <p:cNvPicPr>
            <a:picLocks noChangeAspect="1"/>
          </p:cNvPicPr>
          <p:nvPr/>
        </p:nvPicPr>
        <p:blipFill>
          <a:blip r:embed="rId10"/>
          <a:stretch>
            <a:fillRect/>
          </a:stretch>
        </p:blipFill>
        <p:spPr>
          <a:xfrm>
            <a:off x="6408847" y="5210983"/>
            <a:ext cx="166787" cy="166787"/>
          </a:xfrm>
          <a:prstGeom prst="rect">
            <a:avLst/>
          </a:prstGeom>
        </p:spPr>
      </p:pic>
      <p:sp>
        <p:nvSpPr>
          <p:cNvPr id="60" name="Text 48"/>
          <p:cNvSpPr txBox="1"/>
          <p:nvPr/>
        </p:nvSpPr>
        <p:spPr>
          <a:xfrm>
            <a:off x="6318504" y="5504688"/>
            <a:ext cx="2199132" cy="310896"/>
          </a:xfrm>
          <a:prstGeom prst="rect">
            <a:avLst/>
          </a:prstGeom>
          <a:noFill/>
          <a:ln/>
        </p:spPr>
        <p:txBody>
          <a:bodyPr wrap="square" lIns="0" tIns="0" rIns="0" bIns="0" rtlCol="0" anchor="t"/>
          <a:lstStyle/>
          <a:p>
            <a:pPr indent="0" marL="0">
              <a:lnSpc>
                <a:spcPct val="102000"/>
              </a:lnSpc>
              <a:buNone/>
            </a:pPr>
            <a:r>
              <a:rPr lang="en-US" sz="950" b="1" dirty="0">
                <a:solidFill>
                  <a:srgbClr val="0B3556"/>
                </a:solidFill>
                <a:latin typeface="Cambria" pitchFamily="34" charset="0"/>
                <a:ea typeface="Cambria" pitchFamily="34" charset="-122"/>
                <a:cs typeface="Cambria" pitchFamily="34" charset="-120"/>
              </a:rPr>
              <a:t>Google Fonts</a:t>
            </a:r>
            <a:endParaRPr lang="en-US" sz="950" dirty="0"/>
          </a:p>
        </p:txBody>
      </p:sp>
      <p:sp>
        <p:nvSpPr>
          <p:cNvPr id="61" name="Text 49"/>
          <p:cNvSpPr txBox="1"/>
          <p:nvPr/>
        </p:nvSpPr>
        <p:spPr>
          <a:xfrm>
            <a:off x="6318504" y="5815584"/>
            <a:ext cx="2199132" cy="237744"/>
          </a:xfrm>
          <a:prstGeom prst="rect">
            <a:avLst/>
          </a:prstGeom>
          <a:noFill/>
          <a:ln/>
        </p:spPr>
        <p:txBody>
          <a:bodyPr wrap="square" lIns="0" tIns="0" rIns="0" bIns="0" rtlCol="0" anchor="t"/>
          <a:lstStyle/>
          <a:p>
            <a:pPr indent="0" marL="0">
              <a:lnSpc>
                <a:spcPct val="105000"/>
              </a:lnSpc>
              <a:buNone/>
            </a:pPr>
            <a:r>
              <a:rPr lang="en-US" sz="800" dirty="0">
                <a:solidFill>
                  <a:srgbClr val="55677A"/>
                </a:solidFill>
                <a:latin typeface="Calibri" pitchFamily="34" charset="0"/>
                <a:ea typeface="Calibri" pitchFamily="34" charset="-122"/>
                <a:cs typeface="Calibri" pitchFamily="34" charset="-120"/>
              </a:rPr>
              <a:t>Il font Plus Jakarta Sans, caricato da un servizio esterno.</a:t>
            </a:r>
            <a:endParaRPr lang="en-US" sz="800" dirty="0"/>
          </a:p>
        </p:txBody>
      </p:sp>
      <p:sp>
        <p:nvSpPr>
          <p:cNvPr id="62" name="Shape 50"/>
          <p:cNvSpPr/>
          <p:nvPr/>
        </p:nvSpPr>
        <p:spPr>
          <a:xfrm>
            <a:off x="8846820" y="4992624"/>
            <a:ext cx="2491740" cy="1097280"/>
          </a:xfrm>
          <a:prstGeom prst="roundRect">
            <a:avLst>
              <a:gd name="adj" fmla="val 7500"/>
            </a:avLst>
          </a:prstGeom>
          <a:solidFill>
            <a:srgbClr val="FFFFFF"/>
          </a:solidFill>
          <a:ln/>
          <a:effectLst>
            <a:outerShdw sx="100000" sy="100000" kx="0" ky="0" algn="bl" rotWithShape="0" blurRad="63500" dist="25400" dir="5400000">
              <a:srgbClr val="0B3556">
                <a:alpha val="9000"/>
              </a:srgbClr>
            </a:outerShdw>
          </a:effectLst>
        </p:spPr>
      </p:sp>
      <p:sp>
        <p:nvSpPr>
          <p:cNvPr id="63" name="Shape 51"/>
          <p:cNvSpPr/>
          <p:nvPr/>
        </p:nvSpPr>
        <p:spPr>
          <a:xfrm>
            <a:off x="8993124" y="5120640"/>
            <a:ext cx="347472" cy="347472"/>
          </a:xfrm>
          <a:prstGeom prst="ellipse">
            <a:avLst/>
          </a:prstGeom>
          <a:solidFill>
            <a:srgbClr val="0B3556"/>
          </a:solidFill>
          <a:ln/>
        </p:spPr>
      </p:sp>
      <p:pic>
        <p:nvPicPr>
          <p:cNvPr id="64" name="Image 10" descr="preencoded.png">    </p:cNvPr>
          <p:cNvPicPr>
            <a:picLocks noChangeAspect="1"/>
          </p:cNvPicPr>
          <p:nvPr/>
        </p:nvPicPr>
        <p:blipFill>
          <a:blip r:embed="rId11"/>
          <a:stretch>
            <a:fillRect/>
          </a:stretch>
        </p:blipFill>
        <p:spPr>
          <a:xfrm>
            <a:off x="9083467" y="5210983"/>
            <a:ext cx="166787" cy="166787"/>
          </a:xfrm>
          <a:prstGeom prst="rect">
            <a:avLst/>
          </a:prstGeom>
        </p:spPr>
      </p:pic>
      <p:sp>
        <p:nvSpPr>
          <p:cNvPr id="65" name="Text 52"/>
          <p:cNvSpPr txBox="1"/>
          <p:nvPr/>
        </p:nvSpPr>
        <p:spPr>
          <a:xfrm>
            <a:off x="8993124" y="5504688"/>
            <a:ext cx="2199132" cy="310896"/>
          </a:xfrm>
          <a:prstGeom prst="rect">
            <a:avLst/>
          </a:prstGeom>
          <a:noFill/>
          <a:ln/>
        </p:spPr>
        <p:txBody>
          <a:bodyPr wrap="square" lIns="0" tIns="0" rIns="0" bIns="0" rtlCol="0" anchor="t"/>
          <a:lstStyle/>
          <a:p>
            <a:pPr indent="0" marL="0">
              <a:lnSpc>
                <a:spcPct val="102000"/>
              </a:lnSpc>
              <a:buNone/>
            </a:pPr>
            <a:r>
              <a:rPr lang="en-US" sz="950" b="1" dirty="0">
                <a:solidFill>
                  <a:srgbClr val="0B3556"/>
                </a:solidFill>
                <a:latin typeface="Cambria" pitchFamily="34" charset="0"/>
                <a:ea typeface="Cambria" pitchFamily="34" charset="-122"/>
                <a:cs typeface="Cambria" pitchFamily="34" charset="-120"/>
              </a:rPr>
              <a:t>Supabase Auth</a:t>
            </a:r>
            <a:endParaRPr lang="en-US" sz="950" dirty="0"/>
          </a:p>
        </p:txBody>
      </p:sp>
      <p:sp>
        <p:nvSpPr>
          <p:cNvPr id="66" name="Text 53"/>
          <p:cNvSpPr txBox="1"/>
          <p:nvPr/>
        </p:nvSpPr>
        <p:spPr>
          <a:xfrm>
            <a:off x="8993124" y="5815584"/>
            <a:ext cx="2199132" cy="237744"/>
          </a:xfrm>
          <a:prstGeom prst="rect">
            <a:avLst/>
          </a:prstGeom>
          <a:noFill/>
          <a:ln/>
        </p:spPr>
        <p:txBody>
          <a:bodyPr wrap="square" lIns="0" tIns="0" rIns="0" bIns="0" rtlCol="0" anchor="t"/>
          <a:lstStyle/>
          <a:p>
            <a:pPr indent="0" marL="0">
              <a:lnSpc>
                <a:spcPct val="105000"/>
              </a:lnSpc>
              <a:buNone/>
            </a:pPr>
            <a:r>
              <a:rPr lang="en-US" sz="800" dirty="0">
                <a:solidFill>
                  <a:srgbClr val="55677A"/>
                </a:solidFill>
                <a:latin typeface="Calibri" pitchFamily="34" charset="0"/>
                <a:ea typeface="Calibri" pitchFamily="34" charset="-122"/>
                <a:cs typeface="Calibri" pitchFamily="34" charset="-120"/>
              </a:rPr>
              <a:t>Login e password sono gestiti interamente da Supabase.</a:t>
            </a:r>
            <a:endParaRPr lang="en-US" sz="800" dirty="0"/>
          </a:p>
        </p:txBody>
      </p:sp>
      <p:sp>
        <p:nvSpPr>
          <p:cNvPr id="67" name="Text 5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5677A"/>
                </a:solidFill>
                <a:latin typeface="Calibri" pitchFamily="34" charset="0"/>
                <a:ea typeface="Calibri" pitchFamily="34" charset="-122"/>
                <a:cs typeface="Calibri" pitchFamily="34" charset="-120"/>
              </a:rPr>
              <a:t>STAGE  ·  GESTIONE CERTIFICATI MEDICI</a:t>
            </a:r>
            <a:endParaRPr lang="en-US" sz="900" dirty="0"/>
          </a:p>
        </p:txBody>
      </p:sp>
      <p:sp>
        <p:nvSpPr>
          <p:cNvPr id="68" name="Text 55"/>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900" dirty="0">
                <a:solidFill>
                  <a:srgbClr val="5567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822960" y="502920"/>
            <a:ext cx="4626864" cy="329184"/>
          </a:xfrm>
          <a:prstGeom prst="roundRect">
            <a:avLst>
              <a:gd name="adj" fmla="val 50000"/>
            </a:avLst>
          </a:prstGeom>
          <a:solidFill>
            <a:srgbClr val="E2892F"/>
          </a:solidFill>
          <a:ln/>
        </p:spPr>
      </p:sp>
      <p:sp>
        <p:nvSpPr>
          <p:cNvPr id="3" name="Text 1"/>
          <p:cNvSpPr txBox="1"/>
          <p:nvPr/>
        </p:nvSpPr>
        <p:spPr>
          <a:xfrm>
            <a:off x="822960" y="502920"/>
            <a:ext cx="4626864"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SPECIFICHE TECNICHE</a:t>
            </a:r>
            <a:endParaRPr lang="en-US" sz="1100" dirty="0"/>
          </a:p>
        </p:txBody>
      </p:sp>
      <p:sp>
        <p:nvSpPr>
          <p:cNvPr id="4" name="Text 2"/>
          <p:cNvSpPr txBox="1"/>
          <p:nvPr/>
        </p:nvSpPr>
        <p:spPr>
          <a:xfrm>
            <a:off x="822960" y="914400"/>
            <a:ext cx="10515600" cy="548640"/>
          </a:xfrm>
          <a:prstGeom prst="rect">
            <a:avLst/>
          </a:prstGeom>
          <a:noFill/>
          <a:ln/>
        </p:spPr>
        <p:txBody>
          <a:bodyPr wrap="square" lIns="0" tIns="0" rIns="0" bIns="0" rtlCol="0" anchor="ctr"/>
          <a:lstStyle/>
          <a:p>
            <a:pPr indent="0" marL="0">
              <a:buNone/>
            </a:pPr>
            <a:r>
              <a:rPr lang="en-US" sz="2600" b="1" dirty="0">
                <a:solidFill>
                  <a:srgbClr val="0B3556"/>
                </a:solidFill>
                <a:latin typeface="Cambria" pitchFamily="34" charset="0"/>
                <a:ea typeface="Cambria" pitchFamily="34" charset="-122"/>
                <a:cs typeface="Cambria" pitchFamily="34" charset="-120"/>
              </a:rPr>
              <a:t>Organizzazione dei file del progetto</a:t>
            </a:r>
            <a:endParaRPr lang="en-US" sz="2600" dirty="0"/>
          </a:p>
        </p:txBody>
      </p:sp>
      <p:sp>
        <p:nvSpPr>
          <p:cNvPr id="5" name="Shape 3"/>
          <p:cNvSpPr/>
          <p:nvPr/>
        </p:nvSpPr>
        <p:spPr>
          <a:xfrm>
            <a:off x="822960" y="1691640"/>
            <a:ext cx="5029200" cy="3794760"/>
          </a:xfrm>
          <a:prstGeom prst="roundRect">
            <a:avLst>
              <a:gd name="adj" fmla="val 2892"/>
            </a:avLst>
          </a:prstGeom>
          <a:solidFill>
            <a:srgbClr val="FFFFFF"/>
          </a:solidFill>
          <a:ln/>
          <a:effectLst>
            <a:outerShdw sx="100000" sy="100000" kx="0" ky="0" algn="bl" rotWithShape="0" blurRad="76200" dist="25400" dir="5400000">
              <a:srgbClr val="0B3556">
                <a:alpha val="10000"/>
              </a:srgbClr>
            </a:outerShdw>
          </a:effectLst>
        </p:spPr>
      </p:sp>
      <p:sp>
        <p:nvSpPr>
          <p:cNvPr id="6" name="Shape 4"/>
          <p:cNvSpPr/>
          <p:nvPr/>
        </p:nvSpPr>
        <p:spPr>
          <a:xfrm>
            <a:off x="1097280" y="1947672"/>
            <a:ext cx="502920" cy="502920"/>
          </a:xfrm>
          <a:prstGeom prst="ellipse">
            <a:avLst/>
          </a:prstGeom>
          <a:solidFill>
            <a:srgbClr val="0B3556"/>
          </a:solidFill>
          <a:ln/>
        </p:spPr>
      </p:sp>
      <p:pic>
        <p:nvPicPr>
          <p:cNvPr id="7" name="Image 0" descr="preencoded.png">    </p:cNvPr>
          <p:cNvPicPr>
            <a:picLocks noChangeAspect="1"/>
          </p:cNvPicPr>
          <p:nvPr/>
        </p:nvPicPr>
        <p:blipFill>
          <a:blip r:embed="rId1"/>
          <a:stretch>
            <a:fillRect/>
          </a:stretch>
        </p:blipFill>
        <p:spPr>
          <a:xfrm>
            <a:off x="1228039" y="2078431"/>
            <a:ext cx="241402" cy="241402"/>
          </a:xfrm>
          <a:prstGeom prst="rect">
            <a:avLst/>
          </a:prstGeom>
        </p:spPr>
      </p:pic>
      <p:sp>
        <p:nvSpPr>
          <p:cNvPr id="8" name="Text 5"/>
          <p:cNvSpPr txBox="1"/>
          <p:nvPr/>
        </p:nvSpPr>
        <p:spPr>
          <a:xfrm>
            <a:off x="1783080" y="1947672"/>
            <a:ext cx="3794760" cy="502920"/>
          </a:xfrm>
          <a:prstGeom prst="rect">
            <a:avLst/>
          </a:prstGeom>
          <a:noFill/>
          <a:ln/>
        </p:spPr>
        <p:txBody>
          <a:bodyPr wrap="square" lIns="0" tIns="0" rIns="0" bIns="0" rtlCol="0" anchor="ctr"/>
          <a:lstStyle/>
          <a:p>
            <a:pPr indent="0" marL="0">
              <a:buNone/>
            </a:pPr>
            <a:r>
              <a:rPr lang="en-US" sz="1700" b="1" dirty="0">
                <a:solidFill>
                  <a:srgbClr val="0B3556"/>
                </a:solidFill>
                <a:latin typeface="Cambria" pitchFamily="34" charset="0"/>
                <a:ea typeface="Cambria" pitchFamily="34" charset="-122"/>
                <a:cs typeface="Cambria" pitchFamily="34" charset="-120"/>
              </a:rPr>
              <a:t>browser/</a:t>
            </a:r>
            <a:endParaRPr lang="en-US" sz="1700" dirty="0"/>
          </a:p>
        </p:txBody>
      </p:sp>
      <p:sp>
        <p:nvSpPr>
          <p:cNvPr id="9" name="Text 6"/>
          <p:cNvSpPr txBox="1"/>
          <p:nvPr/>
        </p:nvSpPr>
        <p:spPr>
          <a:xfrm>
            <a:off x="1143000" y="2651760"/>
            <a:ext cx="4389120" cy="2560320"/>
          </a:xfrm>
          <a:prstGeom prst="rect">
            <a:avLst/>
          </a:prstGeom>
          <a:noFill/>
          <a:ln/>
        </p:spPr>
        <p:txBody>
          <a:bodyPr wrap="square" lIns="0" tIns="0" rIns="0" bIns="0" rtlCol="0" anchor="ctr"/>
          <a:lstStyle/>
          <a:p>
            <a:pPr indent="0" marL="0">
              <a:lnSpc>
                <a:spcPct val="112000"/>
              </a:lnSpc>
              <a:spcAft>
                <a:spcPts val="200"/>
              </a:spcAft>
              <a:buNone/>
            </a:pPr>
            <a:r>
              <a:rPr lang="en-US" sz="1250" b="1" dirty="0">
                <a:solidFill>
                  <a:srgbClr val="0B3556"/>
                </a:solidFill>
                <a:latin typeface="Calibri" pitchFamily="34" charset="0"/>
                <a:ea typeface="Calibri" pitchFamily="34" charset="-122"/>
                <a:cs typeface="Calibri" pitchFamily="34" charset="-120"/>
              </a:rPr>
              <a:t>index.html</a:t>
            </a:r>
            <a:endParaRPr lang="en-US" sz="1250" dirty="0"/>
          </a:p>
          <a:p>
            <a:pPr indent="0" marL="0">
              <a:lnSpc>
                <a:spcPct val="112000"/>
              </a:lnSpc>
              <a:spcAft>
                <a:spcPts val="1000"/>
              </a:spcAft>
              <a:buNone/>
            </a:pPr>
            <a:r>
              <a:rPr lang="en-US" sz="1050" dirty="0">
                <a:solidFill>
                  <a:srgbClr val="55677A"/>
                </a:solidFill>
                <a:latin typeface="Calibri" pitchFamily="34" charset="0"/>
                <a:ea typeface="Calibri" pitchFamily="34" charset="-122"/>
                <a:cs typeface="Calibri" pitchFamily="34" charset="-120"/>
              </a:rPr>
              <a:t>L’intero sito: struttura, stile e logica in un unico file, senza framework.</a:t>
            </a:r>
            <a:endParaRPr lang="en-US" sz="1250" dirty="0"/>
          </a:p>
        </p:txBody>
      </p:sp>
      <p:sp>
        <p:nvSpPr>
          <p:cNvPr id="10" name="Shape 7"/>
          <p:cNvSpPr/>
          <p:nvPr/>
        </p:nvSpPr>
        <p:spPr>
          <a:xfrm>
            <a:off x="6263640" y="1691640"/>
            <a:ext cx="5074920" cy="3794760"/>
          </a:xfrm>
          <a:prstGeom prst="roundRect">
            <a:avLst>
              <a:gd name="adj" fmla="val 2892"/>
            </a:avLst>
          </a:prstGeom>
          <a:solidFill>
            <a:srgbClr val="FFFFFF"/>
          </a:solidFill>
          <a:ln/>
          <a:effectLst>
            <a:outerShdw sx="100000" sy="100000" kx="0" ky="0" algn="bl" rotWithShape="0" blurRad="76200" dist="25400" dir="5400000">
              <a:srgbClr val="0B3556">
                <a:alpha val="10000"/>
              </a:srgbClr>
            </a:outerShdw>
          </a:effectLst>
        </p:spPr>
      </p:sp>
      <p:sp>
        <p:nvSpPr>
          <p:cNvPr id="11" name="Shape 8"/>
          <p:cNvSpPr/>
          <p:nvPr/>
        </p:nvSpPr>
        <p:spPr>
          <a:xfrm>
            <a:off x="6537960" y="1947672"/>
            <a:ext cx="502920" cy="502920"/>
          </a:xfrm>
          <a:prstGeom prst="ellipse">
            <a:avLst/>
          </a:prstGeom>
          <a:solidFill>
            <a:srgbClr val="0B3556"/>
          </a:solidFill>
          <a:ln/>
        </p:spPr>
      </p:sp>
      <p:pic>
        <p:nvPicPr>
          <p:cNvPr id="12" name="Image 1" descr="preencoded.png">    </p:cNvPr>
          <p:cNvPicPr>
            <a:picLocks noChangeAspect="1"/>
          </p:cNvPicPr>
          <p:nvPr/>
        </p:nvPicPr>
        <p:blipFill>
          <a:blip r:embed="rId2"/>
          <a:stretch>
            <a:fillRect/>
          </a:stretch>
        </p:blipFill>
        <p:spPr>
          <a:xfrm>
            <a:off x="6668719" y="2078431"/>
            <a:ext cx="241402" cy="241402"/>
          </a:xfrm>
          <a:prstGeom prst="rect">
            <a:avLst/>
          </a:prstGeom>
        </p:spPr>
      </p:pic>
      <p:sp>
        <p:nvSpPr>
          <p:cNvPr id="13" name="Text 9"/>
          <p:cNvSpPr txBox="1"/>
          <p:nvPr/>
        </p:nvSpPr>
        <p:spPr>
          <a:xfrm>
            <a:off x="7223760" y="1947672"/>
            <a:ext cx="3840480" cy="502920"/>
          </a:xfrm>
          <a:prstGeom prst="rect">
            <a:avLst/>
          </a:prstGeom>
          <a:noFill/>
          <a:ln/>
        </p:spPr>
        <p:txBody>
          <a:bodyPr wrap="square" lIns="0" tIns="0" rIns="0" bIns="0" rtlCol="0" anchor="ctr"/>
          <a:lstStyle/>
          <a:p>
            <a:pPr indent="0" marL="0">
              <a:buNone/>
            </a:pPr>
            <a:r>
              <a:rPr lang="en-US" sz="1700" b="1" dirty="0">
                <a:solidFill>
                  <a:srgbClr val="0B3556"/>
                </a:solidFill>
                <a:latin typeface="Cambria" pitchFamily="34" charset="0"/>
                <a:ea typeface="Cambria" pitchFamily="34" charset="-122"/>
                <a:cs typeface="Cambria" pitchFamily="34" charset="-120"/>
              </a:rPr>
              <a:t>server/</a:t>
            </a:r>
            <a:endParaRPr lang="en-US" sz="1700" dirty="0"/>
          </a:p>
        </p:txBody>
      </p:sp>
      <p:sp>
        <p:nvSpPr>
          <p:cNvPr id="14" name="Text 10"/>
          <p:cNvSpPr txBox="1"/>
          <p:nvPr/>
        </p:nvSpPr>
        <p:spPr>
          <a:xfrm>
            <a:off x="6583680" y="2651760"/>
            <a:ext cx="4434840" cy="2560320"/>
          </a:xfrm>
          <a:prstGeom prst="rect">
            <a:avLst/>
          </a:prstGeom>
          <a:noFill/>
          <a:ln/>
        </p:spPr>
        <p:txBody>
          <a:bodyPr wrap="square" lIns="0" tIns="0" rIns="0" bIns="0" rtlCol="0" anchor="ctr"/>
          <a:lstStyle/>
          <a:p>
            <a:pPr indent="0" marL="0">
              <a:lnSpc>
                <a:spcPct val="112000"/>
              </a:lnSpc>
              <a:spcAft>
                <a:spcPts val="200"/>
              </a:spcAft>
              <a:buNone/>
            </a:pPr>
            <a:r>
              <a:rPr lang="en-US" sz="1250" b="1" dirty="0">
                <a:solidFill>
                  <a:srgbClr val="0B3556"/>
                </a:solidFill>
                <a:latin typeface="Calibri" pitchFamily="34" charset="0"/>
                <a:ea typeface="Calibri" pitchFamily="34" charset="-122"/>
                <a:cs typeface="Calibri" pitchFamily="34" charset="-120"/>
              </a:rPr>
              <a:t>server.js</a:t>
            </a:r>
            <a:endParaRPr lang="en-US" sz="1250" dirty="0"/>
          </a:p>
          <a:p>
            <a:pPr indent="0" marL="0">
              <a:lnSpc>
                <a:spcPct val="112000"/>
              </a:lnSpc>
              <a:spcAft>
                <a:spcPts val="1000"/>
              </a:spcAft>
              <a:buNone/>
            </a:pPr>
            <a:r>
              <a:rPr lang="en-US" sz="1050" dirty="0">
                <a:solidFill>
                  <a:srgbClr val="55677A"/>
                </a:solidFill>
                <a:latin typeface="Calibri" pitchFamily="34" charset="0"/>
                <a:ea typeface="Calibri" pitchFamily="34" charset="-122"/>
                <a:cs typeface="Calibri" pitchFamily="34" charset="-120"/>
              </a:rPr>
              <a:t>File principale: invia al browser i file della cartella browser, verifica l’accesso di chi chiama e gestisce tutte le 29 rotte API.</a:t>
            </a:r>
            <a:endParaRPr lang="en-US" sz="1250" dirty="0"/>
          </a:p>
          <a:p>
            <a:pPr indent="0" marL="0">
              <a:lnSpc>
                <a:spcPct val="112000"/>
              </a:lnSpc>
              <a:spcAft>
                <a:spcPts val="200"/>
              </a:spcAft>
              <a:buNone/>
            </a:pPr>
            <a:r>
              <a:rPr lang="en-US" sz="1250" b="1" dirty="0">
                <a:solidFill>
                  <a:srgbClr val="0B3556"/>
                </a:solidFill>
                <a:latin typeface="Calibri" pitchFamily="34" charset="0"/>
                <a:ea typeface="Calibri" pitchFamily="34" charset="-122"/>
                <a:cs typeface="Calibri" pitchFamily="34" charset="-120"/>
              </a:rPr>
              <a:t>src/supabaseClient.js</a:t>
            </a:r>
            <a:endParaRPr lang="en-US" sz="1250" dirty="0"/>
          </a:p>
          <a:p>
            <a:pPr indent="0" marL="0">
              <a:lnSpc>
                <a:spcPct val="112000"/>
              </a:lnSpc>
              <a:spcAft>
                <a:spcPts val="1000"/>
              </a:spcAft>
              <a:buNone/>
            </a:pPr>
            <a:r>
              <a:rPr lang="en-US" sz="1050" dirty="0">
                <a:solidFill>
                  <a:srgbClr val="55677A"/>
                </a:solidFill>
                <a:latin typeface="Calibri" pitchFamily="34" charset="0"/>
                <a:ea typeface="Calibri" pitchFamily="34" charset="-122"/>
                <a:cs typeface="Calibri" pitchFamily="34" charset="-120"/>
              </a:rPr>
              <a:t>La connessione al database Supabase.</a:t>
            </a:r>
            <a:endParaRPr lang="en-US" sz="1250" dirty="0"/>
          </a:p>
          <a:p>
            <a:pPr indent="0" marL="0">
              <a:lnSpc>
                <a:spcPct val="112000"/>
              </a:lnSpc>
              <a:spcAft>
                <a:spcPts val="200"/>
              </a:spcAft>
              <a:buNone/>
            </a:pPr>
            <a:r>
              <a:rPr lang="en-US" sz="1250" b="1" dirty="0">
                <a:solidFill>
                  <a:srgbClr val="0B3556"/>
                </a:solidFill>
                <a:latin typeface="Calibri" pitchFamily="34" charset="0"/>
                <a:ea typeface="Calibri" pitchFamily="34" charset="-122"/>
                <a:cs typeface="Calibri" pitchFamily="34" charset="-120"/>
              </a:rPr>
              <a:t>sql/</a:t>
            </a:r>
            <a:endParaRPr lang="en-US" sz="1250" dirty="0"/>
          </a:p>
          <a:p>
            <a:pPr indent="0" marL="0">
              <a:lnSpc>
                <a:spcPct val="112000"/>
              </a:lnSpc>
              <a:spcAft>
                <a:spcPts val="1000"/>
              </a:spcAft>
              <a:buNone/>
            </a:pPr>
            <a:r>
              <a:rPr lang="en-US" sz="1050" dirty="0">
                <a:solidFill>
                  <a:srgbClr val="55677A"/>
                </a:solidFill>
                <a:latin typeface="Calibri" pitchFamily="34" charset="0"/>
                <a:ea typeface="Calibri" pitchFamily="34" charset="-122"/>
                <a:cs typeface="Calibri" pitchFamily="34" charset="-120"/>
              </a:rPr>
              <a:t>Gli script SQL usati per creare e aggiornare le tabelle nel tempo.</a:t>
            </a:r>
            <a:endParaRPr lang="en-US" sz="1250" dirty="0"/>
          </a:p>
          <a:p>
            <a:pPr indent="0" marL="0">
              <a:lnSpc>
                <a:spcPct val="112000"/>
              </a:lnSpc>
              <a:spcAft>
                <a:spcPts val="200"/>
              </a:spcAft>
              <a:buNone/>
            </a:pPr>
            <a:r>
              <a:rPr lang="en-US" sz="1250" b="1" dirty="0">
                <a:solidFill>
                  <a:srgbClr val="0B3556"/>
                </a:solidFill>
                <a:latin typeface="Calibri" pitchFamily="34" charset="0"/>
                <a:ea typeface="Calibri" pitchFamily="34" charset="-122"/>
                <a:cs typeface="Calibri" pitchFamily="34" charset="-120"/>
              </a:rPr>
              <a:t>script di manutenzione</a:t>
            </a:r>
            <a:endParaRPr lang="en-US" sz="1250" dirty="0"/>
          </a:p>
          <a:p>
            <a:pPr indent="0" marL="0">
              <a:lnSpc>
                <a:spcPct val="112000"/>
              </a:lnSpc>
              <a:spcAft>
                <a:spcPts val="1000"/>
              </a:spcAft>
              <a:buNone/>
            </a:pPr>
            <a:r>
              <a:rPr lang="en-US" sz="1050" dirty="0">
                <a:solidFill>
                  <a:srgbClr val="55677A"/>
                </a:solidFill>
                <a:latin typeface="Calibri" pitchFamily="34" charset="0"/>
                <a:ea typeface="Calibri" pitchFamily="34" charset="-122"/>
                <a:cs typeface="Calibri" pitchFamily="34" charset="-120"/>
              </a:rPr>
              <a:t>Pulisce le foto dei certificati rimaste orfane nel tempo.</a:t>
            </a:r>
            <a:endParaRPr lang="en-US" sz="1250" dirty="0"/>
          </a:p>
          <a:p>
            <a:pPr indent="0" marL="0">
              <a:lnSpc>
                <a:spcPct val="112000"/>
              </a:lnSpc>
              <a:spcAft>
                <a:spcPts val="200"/>
              </a:spcAft>
              <a:buNone/>
            </a:pPr>
            <a:r>
              <a:rPr lang="en-US" sz="1250" b="1" dirty="0">
                <a:solidFill>
                  <a:srgbClr val="0B3556"/>
                </a:solidFill>
                <a:latin typeface="Calibri" pitchFamily="34" charset="0"/>
                <a:ea typeface="Calibri" pitchFamily="34" charset="-122"/>
                <a:cs typeface="Calibri" pitchFamily="34" charset="-120"/>
              </a:rPr>
              <a:t>.env</a:t>
            </a:r>
            <a:endParaRPr lang="en-US" sz="1250" dirty="0"/>
          </a:p>
          <a:p>
            <a:pPr indent="0" marL="0">
              <a:lnSpc>
                <a:spcPct val="112000"/>
              </a:lnSpc>
              <a:spcAft>
                <a:spcPts val="1000"/>
              </a:spcAft>
              <a:buNone/>
            </a:pPr>
            <a:r>
              <a:rPr lang="en-US" sz="1050" dirty="0">
                <a:solidFill>
                  <a:srgbClr val="55677A"/>
                </a:solidFill>
                <a:latin typeface="Calibri" pitchFamily="34" charset="0"/>
                <a:ea typeface="Calibri" pitchFamily="34" charset="-122"/>
                <a:cs typeface="Calibri" pitchFamily="34" charset="-120"/>
              </a:rPr>
              <a:t>Le chiavi segrete del progetto, mai caricate su GitHub.</a:t>
            </a:r>
            <a:endParaRPr lang="en-US" sz="1250" dirty="0"/>
          </a:p>
        </p:txBody>
      </p:sp>
      <p:sp>
        <p:nvSpPr>
          <p:cNvPr id="15" name="Text 11"/>
          <p:cNvSpPr txBox="1"/>
          <p:nvPr/>
        </p:nvSpPr>
        <p:spPr>
          <a:xfrm>
            <a:off x="822960" y="5623560"/>
            <a:ext cx="10515600" cy="594360"/>
          </a:xfrm>
          <a:prstGeom prst="rect">
            <a:avLst/>
          </a:prstGeom>
          <a:noFill/>
          <a:ln/>
        </p:spPr>
        <p:txBody>
          <a:bodyPr wrap="square" lIns="0" tIns="0" rIns="0" bIns="0" rtlCol="0" anchor="ctr"/>
          <a:lstStyle/>
          <a:p>
            <a:pPr indent="0" marL="0">
              <a:lnSpc>
                <a:spcPct val="115000"/>
              </a:lnSpc>
              <a:buNone/>
            </a:pPr>
            <a:r>
              <a:rPr lang="en-US" sz="1150" i="1" dirty="0">
                <a:solidFill>
                  <a:srgbClr val="55677A"/>
                </a:solidFill>
                <a:latin typeface="Calibri" pitchFamily="34" charset="0"/>
                <a:ea typeface="Calibri" pitchFamily="34" charset="-122"/>
                <a:cs typeface="Calibri" pitchFamily="34" charset="-120"/>
              </a:rPr>
              <a:t>Il codice sorgente è su GitHub; alla radice del progetto, vercel.json indica a Vercel come pubblicare il sito, e ogni git push mette online la nuova versione in automatico.</a:t>
            </a:r>
            <a:endParaRPr lang="en-US" sz="1150" dirty="0"/>
          </a:p>
        </p:txBody>
      </p:sp>
      <p:sp>
        <p:nvSpPr>
          <p:cNvPr id="16"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5677A"/>
                </a:solidFill>
                <a:latin typeface="Calibri" pitchFamily="34" charset="0"/>
                <a:ea typeface="Calibri" pitchFamily="34" charset="-122"/>
                <a:cs typeface="Calibri" pitchFamily="34" charset="-120"/>
              </a:rPr>
              <a:t>STAGE  ·  GESTIONE CERTIFICATI MEDICI</a:t>
            </a:r>
            <a:endParaRPr lang="en-US" sz="900" dirty="0"/>
          </a:p>
        </p:txBody>
      </p:sp>
      <p:sp>
        <p:nvSpPr>
          <p:cNvPr id="17" name="Text 13"/>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900" dirty="0">
                <a:solidFill>
                  <a:srgbClr val="5567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822960" y="502920"/>
            <a:ext cx="5285232" cy="329184"/>
          </a:xfrm>
          <a:prstGeom prst="roundRect">
            <a:avLst>
              <a:gd name="adj" fmla="val 50000"/>
            </a:avLst>
          </a:prstGeom>
          <a:solidFill>
            <a:srgbClr val="E2892F"/>
          </a:solidFill>
          <a:ln/>
        </p:spPr>
      </p:sp>
      <p:sp>
        <p:nvSpPr>
          <p:cNvPr id="3" name="Text 1"/>
          <p:cNvSpPr txBox="1"/>
          <p:nvPr/>
        </p:nvSpPr>
        <p:spPr>
          <a:xfrm>
            <a:off x="822960" y="502920"/>
            <a:ext cx="5285232"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STRUTTURA DEL DATABASE</a:t>
            </a:r>
            <a:endParaRPr lang="en-US" sz="1100" dirty="0"/>
          </a:p>
        </p:txBody>
      </p:sp>
      <p:sp>
        <p:nvSpPr>
          <p:cNvPr id="4" name="Text 2"/>
          <p:cNvSpPr txBox="1"/>
          <p:nvPr/>
        </p:nvSpPr>
        <p:spPr>
          <a:xfrm>
            <a:off x="822960" y="914400"/>
            <a:ext cx="10515600" cy="548640"/>
          </a:xfrm>
          <a:prstGeom prst="rect">
            <a:avLst/>
          </a:prstGeom>
          <a:noFill/>
          <a:ln/>
        </p:spPr>
        <p:txBody>
          <a:bodyPr wrap="square" lIns="0" tIns="0" rIns="0" bIns="0" rtlCol="0" anchor="ctr"/>
          <a:lstStyle/>
          <a:p>
            <a:pPr indent="0" marL="0">
              <a:buNone/>
            </a:pPr>
            <a:r>
              <a:rPr lang="en-US" sz="2600" b="1" dirty="0">
                <a:solidFill>
                  <a:srgbClr val="0B3556"/>
                </a:solidFill>
                <a:latin typeface="Cambria" pitchFamily="34" charset="0"/>
                <a:ea typeface="Cambria" pitchFamily="34" charset="-122"/>
                <a:cs typeface="Cambria" pitchFamily="34" charset="-120"/>
              </a:rPr>
              <a:t>Struttura e organizzazione del database</a:t>
            </a:r>
            <a:endParaRPr lang="en-US" sz="2600" dirty="0"/>
          </a:p>
        </p:txBody>
      </p:sp>
      <p:sp>
        <p:nvSpPr>
          <p:cNvPr id="5" name="Text 3"/>
          <p:cNvSpPr txBox="1"/>
          <p:nvPr/>
        </p:nvSpPr>
        <p:spPr>
          <a:xfrm>
            <a:off x="822960" y="1481328"/>
            <a:ext cx="10515600" cy="365760"/>
          </a:xfrm>
          <a:prstGeom prst="rect">
            <a:avLst/>
          </a:prstGeom>
          <a:noFill/>
          <a:ln/>
        </p:spPr>
        <p:txBody>
          <a:bodyPr wrap="square" lIns="0" tIns="0" rIns="0" bIns="0" rtlCol="0" anchor="ctr"/>
          <a:lstStyle/>
          <a:p>
            <a:pPr indent="0" marL="0">
              <a:buNone/>
            </a:pPr>
            <a:r>
              <a:rPr lang="en-US" sz="1250" dirty="0">
                <a:solidFill>
                  <a:srgbClr val="55677A"/>
                </a:solidFill>
                <a:latin typeface="Calibri" pitchFamily="34" charset="0"/>
                <a:ea typeface="Calibri" pitchFamily="34" charset="-122"/>
                <a:cs typeface="Calibri" pitchFamily="34" charset="-120"/>
              </a:rPr>
              <a:t>8 tabelle su Supabase, collegate tra loro tramite un identificativo (id), per non ripetere mai gli stessi dati.</a:t>
            </a:r>
            <a:endParaRPr lang="en-US" sz="1250" dirty="0"/>
          </a:p>
        </p:txBody>
      </p:sp>
      <p:sp>
        <p:nvSpPr>
          <p:cNvPr id="6" name="Shape 4"/>
          <p:cNvSpPr/>
          <p:nvPr/>
        </p:nvSpPr>
        <p:spPr>
          <a:xfrm>
            <a:off x="822960" y="1965960"/>
            <a:ext cx="3392424" cy="2788920"/>
          </a:xfrm>
          <a:prstGeom prst="roundRect">
            <a:avLst>
              <a:gd name="adj" fmla="val 3934"/>
            </a:avLst>
          </a:prstGeom>
          <a:solidFill>
            <a:srgbClr val="FFFFFF"/>
          </a:solidFill>
          <a:ln/>
          <a:effectLst>
            <a:outerShdw sx="100000" sy="100000" kx="0" ky="0" algn="bl" rotWithShape="0" blurRad="76200" dist="25400" dir="5400000">
              <a:srgbClr val="0B3556">
                <a:alpha val="10000"/>
              </a:srgbClr>
            </a:outerShdw>
          </a:effectLst>
        </p:spPr>
      </p:sp>
      <p:sp>
        <p:nvSpPr>
          <p:cNvPr id="7" name="Shape 5"/>
          <p:cNvSpPr/>
          <p:nvPr/>
        </p:nvSpPr>
        <p:spPr>
          <a:xfrm>
            <a:off x="1051560" y="2167128"/>
            <a:ext cx="384048" cy="384048"/>
          </a:xfrm>
          <a:prstGeom prst="ellipse">
            <a:avLst/>
          </a:prstGeom>
          <a:solidFill>
            <a:srgbClr val="0B3556"/>
          </a:solidFill>
          <a:ln/>
        </p:spPr>
      </p:sp>
      <p:pic>
        <p:nvPicPr>
          <p:cNvPr id="8" name="Image 0" descr="preencoded.png">    </p:cNvPr>
          <p:cNvPicPr>
            <a:picLocks noChangeAspect="1"/>
          </p:cNvPicPr>
          <p:nvPr/>
        </p:nvPicPr>
        <p:blipFill>
          <a:blip r:embed="rId1"/>
          <a:stretch>
            <a:fillRect/>
          </a:stretch>
        </p:blipFill>
        <p:spPr>
          <a:xfrm>
            <a:off x="1151412" y="2266980"/>
            <a:ext cx="184343" cy="184343"/>
          </a:xfrm>
          <a:prstGeom prst="rect">
            <a:avLst/>
          </a:prstGeom>
        </p:spPr>
      </p:pic>
      <p:sp>
        <p:nvSpPr>
          <p:cNvPr id="9" name="Text 6"/>
          <p:cNvSpPr txBox="1"/>
          <p:nvPr/>
        </p:nvSpPr>
        <p:spPr>
          <a:xfrm>
            <a:off x="1554480" y="2185416"/>
            <a:ext cx="2432304" cy="365760"/>
          </a:xfrm>
          <a:prstGeom prst="rect">
            <a:avLst/>
          </a:prstGeom>
          <a:noFill/>
          <a:ln/>
        </p:spPr>
        <p:txBody>
          <a:bodyPr wrap="square" lIns="0" tIns="0" rIns="0" bIns="0" rtlCol="0" anchor="ctr"/>
          <a:lstStyle/>
          <a:p>
            <a:pPr indent="0" marL="0">
              <a:buNone/>
            </a:pPr>
            <a:r>
              <a:rPr lang="en-US" sz="1050" b="1" spc="50" kern="0" dirty="0">
                <a:solidFill>
                  <a:srgbClr val="E2892F"/>
                </a:solidFill>
                <a:latin typeface="Calibri" pitchFamily="34" charset="0"/>
                <a:ea typeface="Calibri" pitchFamily="34" charset="-122"/>
                <a:cs typeface="Calibri" pitchFamily="34" charset="-120"/>
              </a:rPr>
              <a:t>CHI USA IL SITO</a:t>
            </a:r>
            <a:endParaRPr lang="en-US" sz="1050" dirty="0"/>
          </a:p>
        </p:txBody>
      </p:sp>
      <p:sp>
        <p:nvSpPr>
          <p:cNvPr id="10" name="Text 7"/>
          <p:cNvSpPr txBox="1"/>
          <p:nvPr/>
        </p:nvSpPr>
        <p:spPr>
          <a:xfrm>
            <a:off x="1078992" y="2743200"/>
            <a:ext cx="2880360" cy="1783080"/>
          </a:xfrm>
          <a:prstGeom prst="rect">
            <a:avLst/>
          </a:prstGeom>
          <a:noFill/>
          <a:ln/>
        </p:spPr>
        <p:txBody>
          <a:bodyPr wrap="square" lIns="0" tIns="0" rIns="0" bIns="0" rtlCol="0" anchor="t"/>
          <a:lstStyle/>
          <a:p>
            <a:pPr indent="0" marL="0">
              <a:lnSpc>
                <a:spcPct val="110000"/>
              </a:lnSpc>
              <a:spcAft>
                <a:spcPts val="100"/>
              </a:spcAft>
              <a:buNone/>
            </a:pPr>
            <a:r>
              <a:rPr lang="en-US" sz="1150" b="1" dirty="0">
                <a:solidFill>
                  <a:srgbClr val="0B3556"/>
                </a:solidFill>
                <a:latin typeface="Calibri" pitchFamily="34" charset="0"/>
                <a:ea typeface="Calibri" pitchFamily="34" charset="-122"/>
                <a:cs typeface="Calibri" pitchFamily="34" charset="-120"/>
              </a:rPr>
              <a:t>persona</a:t>
            </a:r>
            <a:endParaRPr lang="en-US" sz="1150" dirty="0"/>
          </a:p>
          <a:p>
            <a:pPr indent="0" marL="0">
              <a:lnSpc>
                <a:spcPct val="110000"/>
              </a:lnSpc>
              <a:spcAft>
                <a:spcPts val="1000"/>
              </a:spcAft>
              <a:buNone/>
            </a:pPr>
            <a:r>
              <a:rPr lang="en-US" sz="950" dirty="0">
                <a:solidFill>
                  <a:srgbClr val="55677A"/>
                </a:solidFill>
                <a:latin typeface="Calibri" pitchFamily="34" charset="0"/>
                <a:ea typeface="Calibri" pitchFamily="34" charset="-122"/>
                <a:cs typeface="Calibri" pitchFamily="34" charset="-120"/>
              </a:rPr>
              <a:t>Nome, cognome, email e data di nascita; per chi accede al sito, anche l’account e il ruolo collegati.</a:t>
            </a:r>
            <a:endParaRPr lang="en-US" sz="1150" dirty="0"/>
          </a:p>
          <a:p>
            <a:pPr indent="0" marL="0">
              <a:lnSpc>
                <a:spcPct val="110000"/>
              </a:lnSpc>
              <a:spcAft>
                <a:spcPts val="100"/>
              </a:spcAft>
              <a:buNone/>
            </a:pPr>
            <a:r>
              <a:rPr lang="en-US" sz="1150" b="1" dirty="0">
                <a:solidFill>
                  <a:srgbClr val="0B3556"/>
                </a:solidFill>
                <a:latin typeface="Calibri" pitchFamily="34" charset="0"/>
                <a:ea typeface="Calibri" pitchFamily="34" charset="-122"/>
                <a:cs typeface="Calibri" pitchFamily="34" charset="-120"/>
              </a:rPr>
              <a:t>responsabili</a:t>
            </a:r>
            <a:endParaRPr lang="en-US" sz="1150" dirty="0"/>
          </a:p>
          <a:p>
            <a:pPr indent="0" marL="0">
              <a:lnSpc>
                <a:spcPct val="110000"/>
              </a:lnSpc>
              <a:spcAft>
                <a:spcPts val="1000"/>
              </a:spcAft>
              <a:buNone/>
            </a:pPr>
            <a:r>
              <a:rPr lang="en-US" sz="950" dirty="0">
                <a:solidFill>
                  <a:srgbClr val="55677A"/>
                </a:solidFill>
                <a:latin typeface="Calibri" pitchFamily="34" charset="0"/>
                <a:ea typeface="Calibri" pitchFamily="34" charset="-122"/>
                <a:cs typeface="Calibri" pitchFamily="34" charset="-120"/>
              </a:rPr>
              <a:t>I responsabili di squadra, collegati a una persona e a una squadra; oggi usati solo internamente (bloccano l’eliminazione della squadra se ancora assegnati).</a:t>
            </a:r>
            <a:endParaRPr lang="en-US" sz="1150" dirty="0"/>
          </a:p>
          <a:p>
            <a:pPr indent="0" marL="0">
              <a:lnSpc>
                <a:spcPct val="110000"/>
              </a:lnSpc>
              <a:spcAft>
                <a:spcPts val="100"/>
              </a:spcAft>
              <a:buNone/>
            </a:pPr>
            <a:r>
              <a:rPr lang="en-US" sz="1150" b="1" dirty="0">
                <a:solidFill>
                  <a:srgbClr val="0B3556"/>
                </a:solidFill>
                <a:latin typeface="Calibri" pitchFamily="34" charset="0"/>
                <a:ea typeface="Calibri" pitchFamily="34" charset="-122"/>
                <a:cs typeface="Calibri" pitchFamily="34" charset="-120"/>
              </a:rPr>
              <a:t>giocatori</a:t>
            </a:r>
            <a:endParaRPr lang="en-US" sz="1150" dirty="0"/>
          </a:p>
          <a:p>
            <a:pPr indent="0" marL="0">
              <a:lnSpc>
                <a:spcPct val="110000"/>
              </a:lnSpc>
              <a:spcAft>
                <a:spcPts val="1000"/>
              </a:spcAft>
              <a:buNone/>
            </a:pPr>
            <a:r>
              <a:rPr lang="en-US" sz="950" dirty="0">
                <a:solidFill>
                  <a:srgbClr val="55677A"/>
                </a:solidFill>
                <a:latin typeface="Calibri" pitchFamily="34" charset="0"/>
                <a:ea typeface="Calibri" pitchFamily="34" charset="-122"/>
                <a:cs typeface="Calibri" pitchFamily="34" charset="-120"/>
              </a:rPr>
              <a:t>I giocatori, collegati a una persona; se eliminati restano archiviati, mai cancellati.</a:t>
            </a:r>
            <a:endParaRPr lang="en-US" sz="1150" dirty="0"/>
          </a:p>
        </p:txBody>
      </p:sp>
      <p:sp>
        <p:nvSpPr>
          <p:cNvPr id="11" name="Shape 8"/>
          <p:cNvSpPr/>
          <p:nvPr/>
        </p:nvSpPr>
        <p:spPr>
          <a:xfrm>
            <a:off x="4398264" y="1965960"/>
            <a:ext cx="3392424" cy="2788920"/>
          </a:xfrm>
          <a:prstGeom prst="roundRect">
            <a:avLst>
              <a:gd name="adj" fmla="val 3934"/>
            </a:avLst>
          </a:prstGeom>
          <a:solidFill>
            <a:srgbClr val="FFFFFF"/>
          </a:solidFill>
          <a:ln/>
          <a:effectLst>
            <a:outerShdw sx="100000" sy="100000" kx="0" ky="0" algn="bl" rotWithShape="0" blurRad="76200" dist="25400" dir="5400000">
              <a:srgbClr val="0B3556">
                <a:alpha val="10000"/>
              </a:srgbClr>
            </a:outerShdw>
          </a:effectLst>
        </p:spPr>
      </p:sp>
      <p:sp>
        <p:nvSpPr>
          <p:cNvPr id="12" name="Shape 9"/>
          <p:cNvSpPr/>
          <p:nvPr/>
        </p:nvSpPr>
        <p:spPr>
          <a:xfrm>
            <a:off x="4626864" y="2167128"/>
            <a:ext cx="384048" cy="384048"/>
          </a:xfrm>
          <a:prstGeom prst="ellipse">
            <a:avLst/>
          </a:prstGeom>
          <a:solidFill>
            <a:srgbClr val="0B3556"/>
          </a:solidFill>
          <a:ln/>
        </p:spPr>
      </p:sp>
      <p:pic>
        <p:nvPicPr>
          <p:cNvPr id="13" name="Image 1" descr="preencoded.png">    </p:cNvPr>
          <p:cNvPicPr>
            <a:picLocks noChangeAspect="1"/>
          </p:cNvPicPr>
          <p:nvPr/>
        </p:nvPicPr>
        <p:blipFill>
          <a:blip r:embed="rId2"/>
          <a:stretch>
            <a:fillRect/>
          </a:stretch>
        </p:blipFill>
        <p:spPr>
          <a:xfrm>
            <a:off x="4726716" y="2266980"/>
            <a:ext cx="184343" cy="184343"/>
          </a:xfrm>
          <a:prstGeom prst="rect">
            <a:avLst/>
          </a:prstGeom>
        </p:spPr>
      </p:pic>
      <p:sp>
        <p:nvSpPr>
          <p:cNvPr id="14" name="Text 10"/>
          <p:cNvSpPr txBox="1"/>
          <p:nvPr/>
        </p:nvSpPr>
        <p:spPr>
          <a:xfrm>
            <a:off x="5129784" y="2185416"/>
            <a:ext cx="2432304" cy="365760"/>
          </a:xfrm>
          <a:prstGeom prst="rect">
            <a:avLst/>
          </a:prstGeom>
          <a:noFill/>
          <a:ln/>
        </p:spPr>
        <p:txBody>
          <a:bodyPr wrap="square" lIns="0" tIns="0" rIns="0" bIns="0" rtlCol="0" anchor="ctr"/>
          <a:lstStyle/>
          <a:p>
            <a:pPr indent="0" marL="0">
              <a:buNone/>
            </a:pPr>
            <a:r>
              <a:rPr lang="en-US" sz="1050" b="1" spc="50" kern="0" dirty="0">
                <a:solidFill>
                  <a:srgbClr val="E2892F"/>
                </a:solidFill>
                <a:latin typeface="Calibri" pitchFamily="34" charset="0"/>
                <a:ea typeface="Calibri" pitchFamily="34" charset="-122"/>
                <a:cs typeface="Calibri" pitchFamily="34" charset="-120"/>
              </a:rPr>
              <a:t>SQUADRE</a:t>
            </a:r>
            <a:endParaRPr lang="en-US" sz="1050" dirty="0"/>
          </a:p>
        </p:txBody>
      </p:sp>
      <p:sp>
        <p:nvSpPr>
          <p:cNvPr id="15" name="Text 11"/>
          <p:cNvSpPr txBox="1"/>
          <p:nvPr/>
        </p:nvSpPr>
        <p:spPr>
          <a:xfrm>
            <a:off x="4654296" y="2743200"/>
            <a:ext cx="2880360" cy="1783080"/>
          </a:xfrm>
          <a:prstGeom prst="rect">
            <a:avLst/>
          </a:prstGeom>
          <a:noFill/>
          <a:ln/>
        </p:spPr>
        <p:txBody>
          <a:bodyPr wrap="square" lIns="0" tIns="0" rIns="0" bIns="0" rtlCol="0" anchor="t"/>
          <a:lstStyle/>
          <a:p>
            <a:pPr indent="0" marL="0">
              <a:lnSpc>
                <a:spcPct val="110000"/>
              </a:lnSpc>
              <a:spcAft>
                <a:spcPts val="100"/>
              </a:spcAft>
              <a:buNone/>
            </a:pPr>
            <a:r>
              <a:rPr lang="en-US" sz="1150" b="1" dirty="0">
                <a:solidFill>
                  <a:srgbClr val="0B3556"/>
                </a:solidFill>
                <a:latin typeface="Calibri" pitchFamily="34" charset="0"/>
                <a:ea typeface="Calibri" pitchFamily="34" charset="-122"/>
                <a:cs typeface="Calibri" pitchFamily="34" charset="-120"/>
              </a:rPr>
              <a:t>squadre</a:t>
            </a:r>
            <a:endParaRPr lang="en-US" sz="1150" dirty="0"/>
          </a:p>
          <a:p>
            <a:pPr indent="0" marL="0">
              <a:lnSpc>
                <a:spcPct val="110000"/>
              </a:lnSpc>
              <a:spcAft>
                <a:spcPts val="1000"/>
              </a:spcAft>
              <a:buNone/>
            </a:pPr>
            <a:r>
              <a:rPr lang="en-US" sz="950" dirty="0">
                <a:solidFill>
                  <a:srgbClr val="55677A"/>
                </a:solidFill>
                <a:latin typeface="Calibri" pitchFamily="34" charset="0"/>
                <a:ea typeface="Calibri" pitchFamily="34" charset="-122"/>
                <a:cs typeface="Calibri" pitchFamily="34" charset="-120"/>
              </a:rPr>
              <a:t>Le squadre della società.</a:t>
            </a:r>
            <a:endParaRPr lang="en-US" sz="1150" dirty="0"/>
          </a:p>
          <a:p>
            <a:pPr indent="0" marL="0">
              <a:lnSpc>
                <a:spcPct val="110000"/>
              </a:lnSpc>
              <a:spcAft>
                <a:spcPts val="100"/>
              </a:spcAft>
              <a:buNone/>
            </a:pPr>
            <a:r>
              <a:rPr lang="en-US" sz="1150" b="1" dirty="0">
                <a:solidFill>
                  <a:srgbClr val="0B3556"/>
                </a:solidFill>
                <a:latin typeface="Calibri" pitchFamily="34" charset="0"/>
                <a:ea typeface="Calibri" pitchFamily="34" charset="-122"/>
                <a:cs typeface="Calibri" pitchFamily="34" charset="-120"/>
              </a:rPr>
              <a:t>giocatori_squadre</a:t>
            </a:r>
            <a:endParaRPr lang="en-US" sz="1150" dirty="0"/>
          </a:p>
          <a:p>
            <a:pPr indent="0" marL="0">
              <a:lnSpc>
                <a:spcPct val="110000"/>
              </a:lnSpc>
              <a:spcAft>
                <a:spcPts val="1000"/>
              </a:spcAft>
              <a:buNone/>
            </a:pPr>
            <a:r>
              <a:rPr lang="en-US" sz="950" dirty="0">
                <a:solidFill>
                  <a:srgbClr val="55677A"/>
                </a:solidFill>
                <a:latin typeface="Calibri" pitchFamily="34" charset="0"/>
                <a:ea typeface="Calibri" pitchFamily="34" charset="-122"/>
                <a:cs typeface="Calibri" pitchFamily="34" charset="-120"/>
              </a:rPr>
              <a:t>Tabella aggiunta più avanti, per collegare giocatori e squadre.</a:t>
            </a:r>
            <a:endParaRPr lang="en-US" sz="1150" dirty="0"/>
          </a:p>
        </p:txBody>
      </p:sp>
      <p:sp>
        <p:nvSpPr>
          <p:cNvPr id="16" name="Text 12"/>
          <p:cNvSpPr txBox="1"/>
          <p:nvPr/>
        </p:nvSpPr>
        <p:spPr>
          <a:xfrm>
            <a:off x="4654296" y="4160520"/>
            <a:ext cx="2880360" cy="502920"/>
          </a:xfrm>
          <a:prstGeom prst="rect">
            <a:avLst/>
          </a:prstGeom>
          <a:noFill/>
          <a:ln/>
        </p:spPr>
        <p:txBody>
          <a:bodyPr wrap="square" lIns="0" tIns="0" rIns="0" bIns="0" rtlCol="0" anchor="t"/>
          <a:lstStyle/>
          <a:p>
            <a:pPr indent="0" marL="0">
              <a:lnSpc>
                <a:spcPct val="110000"/>
              </a:lnSpc>
              <a:buNone/>
            </a:pPr>
            <a:r>
              <a:rPr lang="en-US" sz="950" i="1" dirty="0">
                <a:solidFill>
                  <a:srgbClr val="55677A"/>
                </a:solidFill>
                <a:latin typeface="Calibri" pitchFamily="34" charset="0"/>
                <a:ea typeface="Calibri" pitchFamily="34" charset="-122"/>
                <a:cs typeface="Calibri" pitchFamily="34" charset="-120"/>
              </a:rPr>
              <a:t>Prima un giocatore stava in una sola squadra; ora può stare in più squadre insieme.</a:t>
            </a:r>
            <a:endParaRPr lang="en-US" sz="950" dirty="0"/>
          </a:p>
        </p:txBody>
      </p:sp>
      <p:sp>
        <p:nvSpPr>
          <p:cNvPr id="17" name="Shape 13"/>
          <p:cNvSpPr/>
          <p:nvPr/>
        </p:nvSpPr>
        <p:spPr>
          <a:xfrm>
            <a:off x="7973568" y="1965960"/>
            <a:ext cx="3392424" cy="2788920"/>
          </a:xfrm>
          <a:prstGeom prst="roundRect">
            <a:avLst>
              <a:gd name="adj" fmla="val 3934"/>
            </a:avLst>
          </a:prstGeom>
          <a:solidFill>
            <a:srgbClr val="FFFFFF"/>
          </a:solidFill>
          <a:ln/>
          <a:effectLst>
            <a:outerShdw sx="100000" sy="100000" kx="0" ky="0" algn="bl" rotWithShape="0" blurRad="76200" dist="25400" dir="5400000">
              <a:srgbClr val="0B3556">
                <a:alpha val="10000"/>
              </a:srgbClr>
            </a:outerShdw>
          </a:effectLst>
        </p:spPr>
      </p:sp>
      <p:sp>
        <p:nvSpPr>
          <p:cNvPr id="18" name="Shape 14"/>
          <p:cNvSpPr/>
          <p:nvPr/>
        </p:nvSpPr>
        <p:spPr>
          <a:xfrm>
            <a:off x="8202168" y="2167128"/>
            <a:ext cx="384048" cy="384048"/>
          </a:xfrm>
          <a:prstGeom prst="ellipse">
            <a:avLst/>
          </a:prstGeom>
          <a:solidFill>
            <a:srgbClr val="0B3556"/>
          </a:solidFill>
          <a:ln/>
        </p:spPr>
      </p:sp>
      <p:pic>
        <p:nvPicPr>
          <p:cNvPr id="19" name="Image 2" descr="preencoded.png">    </p:cNvPr>
          <p:cNvPicPr>
            <a:picLocks noChangeAspect="1"/>
          </p:cNvPicPr>
          <p:nvPr/>
        </p:nvPicPr>
        <p:blipFill>
          <a:blip r:embed="rId3"/>
          <a:stretch>
            <a:fillRect/>
          </a:stretch>
        </p:blipFill>
        <p:spPr>
          <a:xfrm>
            <a:off x="8302020" y="2266980"/>
            <a:ext cx="184343" cy="184343"/>
          </a:xfrm>
          <a:prstGeom prst="rect">
            <a:avLst/>
          </a:prstGeom>
        </p:spPr>
      </p:pic>
      <p:sp>
        <p:nvSpPr>
          <p:cNvPr id="20" name="Text 15"/>
          <p:cNvSpPr txBox="1"/>
          <p:nvPr/>
        </p:nvSpPr>
        <p:spPr>
          <a:xfrm>
            <a:off x="8705088" y="2185416"/>
            <a:ext cx="2432304" cy="365760"/>
          </a:xfrm>
          <a:prstGeom prst="rect">
            <a:avLst/>
          </a:prstGeom>
          <a:noFill/>
          <a:ln/>
        </p:spPr>
        <p:txBody>
          <a:bodyPr wrap="square" lIns="0" tIns="0" rIns="0" bIns="0" rtlCol="0" anchor="ctr"/>
          <a:lstStyle/>
          <a:p>
            <a:pPr indent="0" marL="0">
              <a:buNone/>
            </a:pPr>
            <a:r>
              <a:rPr lang="en-US" sz="1050" b="1" spc="50" kern="0" dirty="0">
                <a:solidFill>
                  <a:srgbClr val="E2892F"/>
                </a:solidFill>
                <a:latin typeface="Calibri" pitchFamily="34" charset="0"/>
                <a:ea typeface="Calibri" pitchFamily="34" charset="-122"/>
                <a:cs typeface="Calibri" pitchFamily="34" charset="-120"/>
              </a:rPr>
              <a:t>CERTIFICATI E NOTIFICHE</a:t>
            </a:r>
            <a:endParaRPr lang="en-US" sz="1050" dirty="0"/>
          </a:p>
        </p:txBody>
      </p:sp>
      <p:sp>
        <p:nvSpPr>
          <p:cNvPr id="21" name="Text 16"/>
          <p:cNvSpPr txBox="1"/>
          <p:nvPr/>
        </p:nvSpPr>
        <p:spPr>
          <a:xfrm>
            <a:off x="8229600" y="2743200"/>
            <a:ext cx="2880360" cy="1783080"/>
          </a:xfrm>
          <a:prstGeom prst="rect">
            <a:avLst/>
          </a:prstGeom>
          <a:noFill/>
          <a:ln/>
        </p:spPr>
        <p:txBody>
          <a:bodyPr wrap="square" lIns="0" tIns="0" rIns="0" bIns="0" rtlCol="0" anchor="t"/>
          <a:lstStyle/>
          <a:p>
            <a:pPr indent="0" marL="0">
              <a:lnSpc>
                <a:spcPct val="110000"/>
              </a:lnSpc>
              <a:spcAft>
                <a:spcPts val="100"/>
              </a:spcAft>
              <a:buNone/>
            </a:pPr>
            <a:r>
              <a:rPr lang="en-US" sz="1150" b="1" dirty="0">
                <a:solidFill>
                  <a:srgbClr val="0B3556"/>
                </a:solidFill>
                <a:latin typeface="Calibri" pitchFamily="34" charset="0"/>
                <a:ea typeface="Calibri" pitchFamily="34" charset="-122"/>
                <a:cs typeface="Calibri" pitchFamily="34" charset="-120"/>
              </a:rPr>
              <a:t>certificati_medici</a:t>
            </a:r>
            <a:endParaRPr lang="en-US" sz="1150" dirty="0"/>
          </a:p>
          <a:p>
            <a:pPr indent="0" marL="0">
              <a:lnSpc>
                <a:spcPct val="110000"/>
              </a:lnSpc>
              <a:spcAft>
                <a:spcPts val="1000"/>
              </a:spcAft>
              <a:buNone/>
            </a:pPr>
            <a:r>
              <a:rPr lang="en-US" sz="950" dirty="0">
                <a:solidFill>
                  <a:srgbClr val="55677A"/>
                </a:solidFill>
                <a:latin typeface="Calibri" pitchFamily="34" charset="0"/>
                <a:ea typeface="Calibri" pitchFamily="34" charset="-122"/>
                <a:cs typeface="Calibri" pitchFamily="34" charset="-120"/>
              </a:rPr>
              <a:t>I certificati caricati da ogni giocatore, con la relativa scadenza.</a:t>
            </a:r>
            <a:endParaRPr lang="en-US" sz="1150" dirty="0"/>
          </a:p>
          <a:p>
            <a:pPr indent="0" marL="0">
              <a:lnSpc>
                <a:spcPct val="110000"/>
              </a:lnSpc>
              <a:spcAft>
                <a:spcPts val="100"/>
              </a:spcAft>
              <a:buNone/>
            </a:pPr>
            <a:r>
              <a:rPr lang="en-US" sz="1150" b="1" dirty="0">
                <a:solidFill>
                  <a:srgbClr val="0B3556"/>
                </a:solidFill>
                <a:latin typeface="Calibri" pitchFamily="34" charset="0"/>
                <a:ea typeface="Calibri" pitchFamily="34" charset="-122"/>
                <a:cs typeface="Calibri" pitchFamily="34" charset="-120"/>
              </a:rPr>
              <a:t>segnalazioni_certificati</a:t>
            </a:r>
            <a:endParaRPr lang="en-US" sz="1150" dirty="0"/>
          </a:p>
          <a:p>
            <a:pPr indent="0" marL="0">
              <a:lnSpc>
                <a:spcPct val="110000"/>
              </a:lnSpc>
              <a:spcAft>
                <a:spcPts val="1000"/>
              </a:spcAft>
              <a:buNone/>
            </a:pPr>
            <a:r>
              <a:rPr lang="en-US" sz="950" dirty="0">
                <a:solidFill>
                  <a:srgbClr val="55677A"/>
                </a:solidFill>
                <a:latin typeface="Calibri" pitchFamily="34" charset="0"/>
                <a:ea typeface="Calibri" pitchFamily="34" charset="-122"/>
                <a:cs typeface="Calibri" pitchFamily="34" charset="-120"/>
              </a:rPr>
              <a:t>Le segnalazioni per un certificato caricato con un nome non riconosciuto tra i giocatori.</a:t>
            </a:r>
            <a:endParaRPr lang="en-US" sz="1150" dirty="0"/>
          </a:p>
          <a:p>
            <a:pPr indent="0" marL="0">
              <a:lnSpc>
                <a:spcPct val="110000"/>
              </a:lnSpc>
              <a:spcAft>
                <a:spcPts val="100"/>
              </a:spcAft>
              <a:buNone/>
            </a:pPr>
            <a:r>
              <a:rPr lang="en-US" sz="1150" b="1" dirty="0">
                <a:solidFill>
                  <a:srgbClr val="0B3556"/>
                </a:solidFill>
                <a:latin typeface="Calibri" pitchFamily="34" charset="0"/>
                <a:ea typeface="Calibri" pitchFamily="34" charset="-122"/>
                <a:cs typeface="Calibri" pitchFamily="34" charset="-120"/>
              </a:rPr>
              <a:t>notifiche_inviate</a:t>
            </a:r>
            <a:endParaRPr lang="en-US" sz="1150" dirty="0"/>
          </a:p>
          <a:p>
            <a:pPr indent="0" marL="0">
              <a:lnSpc>
                <a:spcPct val="110000"/>
              </a:lnSpc>
              <a:spcAft>
                <a:spcPts val="1000"/>
              </a:spcAft>
              <a:buNone/>
            </a:pPr>
            <a:r>
              <a:rPr lang="en-US" sz="950" dirty="0">
                <a:solidFill>
                  <a:srgbClr val="55677A"/>
                </a:solidFill>
                <a:latin typeface="Calibri" pitchFamily="34" charset="0"/>
                <a:ea typeface="Calibri" pitchFamily="34" charset="-122"/>
                <a:cs typeface="Calibri" pitchFamily="34" charset="-120"/>
              </a:rPr>
              <a:t>Lo storico delle notifiche inviate, collegate al certificato per cui sono state mandate.</a:t>
            </a:r>
            <a:endParaRPr lang="en-US" sz="1150" dirty="0"/>
          </a:p>
        </p:txBody>
      </p:sp>
      <p:sp>
        <p:nvSpPr>
          <p:cNvPr id="22" name="Text 17"/>
          <p:cNvSpPr txBox="1"/>
          <p:nvPr/>
        </p:nvSpPr>
        <p:spPr>
          <a:xfrm>
            <a:off x="822960" y="4919472"/>
            <a:ext cx="10515600" cy="292608"/>
          </a:xfrm>
          <a:prstGeom prst="rect">
            <a:avLst/>
          </a:prstGeom>
          <a:noFill/>
          <a:ln/>
        </p:spPr>
        <p:txBody>
          <a:bodyPr wrap="square" lIns="0" tIns="0" rIns="0" bIns="0" rtlCol="0" anchor="ctr"/>
          <a:lstStyle/>
          <a:p>
            <a:pPr indent="0" marL="0">
              <a:lnSpc>
                <a:spcPct val="110000"/>
              </a:lnSpc>
              <a:buNone/>
            </a:pPr>
            <a:r>
              <a:rPr lang="en-US" sz="1100" dirty="0">
                <a:solidFill>
                  <a:srgbClr val="55677A"/>
                </a:solidFill>
                <a:latin typeface="Calibri" pitchFamily="34" charset="0"/>
                <a:ea typeface="Calibri" pitchFamily="34" charset="-122"/>
                <a:cs typeface="Calibri" pitchFamily="34" charset="-120"/>
              </a:rPr>
              <a:t>Il server espone diverse decine di rotte API REST, organizzate per area — la maggior parte richiede un utente autenticato, alcune solo l’Admin. Qualche esempio:</a:t>
            </a:r>
            <a:endParaRPr lang="en-US" sz="1100" dirty="0"/>
          </a:p>
        </p:txBody>
      </p:sp>
      <p:sp>
        <p:nvSpPr>
          <p:cNvPr id="23" name="Shape 18"/>
          <p:cNvSpPr/>
          <p:nvPr/>
        </p:nvSpPr>
        <p:spPr>
          <a:xfrm>
            <a:off x="822960" y="5257800"/>
            <a:ext cx="2491740" cy="1051560"/>
          </a:xfrm>
          <a:prstGeom prst="roundRect">
            <a:avLst>
              <a:gd name="adj" fmla="val 7826"/>
            </a:avLst>
          </a:prstGeom>
          <a:solidFill>
            <a:srgbClr val="FFFFFF"/>
          </a:solidFill>
          <a:ln/>
          <a:effectLst>
            <a:outerShdw sx="100000" sy="100000" kx="0" ky="0" algn="bl" rotWithShape="0" blurRad="63500" dist="25400" dir="5400000">
              <a:srgbClr val="0B3556">
                <a:alpha val="8000"/>
              </a:srgbClr>
            </a:outerShdw>
          </a:effectLst>
        </p:spPr>
      </p:sp>
      <p:sp>
        <p:nvSpPr>
          <p:cNvPr id="24" name="Shape 19"/>
          <p:cNvSpPr/>
          <p:nvPr/>
        </p:nvSpPr>
        <p:spPr>
          <a:xfrm>
            <a:off x="969264" y="5385816"/>
            <a:ext cx="566928" cy="219456"/>
          </a:xfrm>
          <a:prstGeom prst="roundRect">
            <a:avLst>
              <a:gd name="adj" fmla="val 50000"/>
            </a:avLst>
          </a:prstGeom>
          <a:solidFill>
            <a:srgbClr val="0B3556"/>
          </a:solidFill>
          <a:ln/>
        </p:spPr>
      </p:sp>
      <p:sp>
        <p:nvSpPr>
          <p:cNvPr id="25" name="Text 20"/>
          <p:cNvSpPr txBox="1"/>
          <p:nvPr/>
        </p:nvSpPr>
        <p:spPr>
          <a:xfrm>
            <a:off x="969264" y="5385816"/>
            <a:ext cx="566928"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GET</a:t>
            </a:r>
            <a:endParaRPr lang="en-US" sz="850" dirty="0"/>
          </a:p>
        </p:txBody>
      </p:sp>
      <p:sp>
        <p:nvSpPr>
          <p:cNvPr id="26" name="Text 21"/>
          <p:cNvSpPr txBox="1"/>
          <p:nvPr/>
        </p:nvSpPr>
        <p:spPr>
          <a:xfrm>
            <a:off x="969264" y="5641848"/>
            <a:ext cx="2199132" cy="310896"/>
          </a:xfrm>
          <a:prstGeom prst="rect">
            <a:avLst/>
          </a:prstGeom>
          <a:noFill/>
          <a:ln/>
        </p:spPr>
        <p:txBody>
          <a:bodyPr wrap="square" lIns="0" tIns="0" rIns="0" bIns="0" rtlCol="0" anchor="t"/>
          <a:lstStyle/>
          <a:p>
            <a:pPr indent="0" marL="0">
              <a:lnSpc>
                <a:spcPct val="102000"/>
              </a:lnSpc>
              <a:buNone/>
            </a:pPr>
            <a:r>
              <a:rPr lang="en-US" sz="900" b="1" dirty="0">
                <a:solidFill>
                  <a:srgbClr val="0B3556"/>
                </a:solidFill>
                <a:latin typeface="Calibri" pitchFamily="34" charset="0"/>
                <a:ea typeface="Calibri" pitchFamily="34" charset="-122"/>
                <a:cs typeface="Calibri" pitchFamily="34" charset="-120"/>
              </a:rPr>
              <a:t>/api/squadre</a:t>
            </a:r>
            <a:endParaRPr lang="en-US" sz="900" dirty="0"/>
          </a:p>
        </p:txBody>
      </p:sp>
      <p:sp>
        <p:nvSpPr>
          <p:cNvPr id="27" name="Text 22"/>
          <p:cNvSpPr txBox="1"/>
          <p:nvPr/>
        </p:nvSpPr>
        <p:spPr>
          <a:xfrm>
            <a:off x="969264" y="5980176"/>
            <a:ext cx="2199132" cy="292608"/>
          </a:xfrm>
          <a:prstGeom prst="rect">
            <a:avLst/>
          </a:prstGeom>
          <a:noFill/>
          <a:ln/>
        </p:spPr>
        <p:txBody>
          <a:bodyPr wrap="square" lIns="0" tIns="0" rIns="0" bIns="0" rtlCol="0" anchor="t"/>
          <a:lstStyle/>
          <a:p>
            <a:pPr indent="0" marL="0">
              <a:lnSpc>
                <a:spcPct val="105000"/>
              </a:lnSpc>
              <a:buNone/>
            </a:pPr>
            <a:r>
              <a:rPr lang="en-US" sz="800" dirty="0">
                <a:solidFill>
                  <a:srgbClr val="55677A"/>
                </a:solidFill>
                <a:latin typeface="Calibri" pitchFamily="34" charset="0"/>
                <a:ea typeface="Calibri" pitchFamily="34" charset="-122"/>
                <a:cs typeface="Calibri" pitchFamily="34" charset="-120"/>
              </a:rPr>
              <a:t>Elenco delle squadre e dei giocatori.</a:t>
            </a:r>
            <a:endParaRPr lang="en-US" sz="800" dirty="0"/>
          </a:p>
        </p:txBody>
      </p:sp>
      <p:sp>
        <p:nvSpPr>
          <p:cNvPr id="28" name="Shape 23"/>
          <p:cNvSpPr/>
          <p:nvPr/>
        </p:nvSpPr>
        <p:spPr>
          <a:xfrm>
            <a:off x="3497580" y="5257800"/>
            <a:ext cx="2491740" cy="1051560"/>
          </a:xfrm>
          <a:prstGeom prst="roundRect">
            <a:avLst>
              <a:gd name="adj" fmla="val 7826"/>
            </a:avLst>
          </a:prstGeom>
          <a:solidFill>
            <a:srgbClr val="FFFFFF"/>
          </a:solidFill>
          <a:ln/>
          <a:effectLst>
            <a:outerShdw sx="100000" sy="100000" kx="0" ky="0" algn="bl" rotWithShape="0" blurRad="63500" dist="25400" dir="5400000">
              <a:srgbClr val="0B3556">
                <a:alpha val="8000"/>
              </a:srgbClr>
            </a:outerShdw>
          </a:effectLst>
        </p:spPr>
      </p:sp>
      <p:sp>
        <p:nvSpPr>
          <p:cNvPr id="29" name="Shape 24"/>
          <p:cNvSpPr/>
          <p:nvPr/>
        </p:nvSpPr>
        <p:spPr>
          <a:xfrm>
            <a:off x="3643884" y="5385816"/>
            <a:ext cx="566928" cy="219456"/>
          </a:xfrm>
          <a:prstGeom prst="roundRect">
            <a:avLst>
              <a:gd name="adj" fmla="val 50000"/>
            </a:avLst>
          </a:prstGeom>
          <a:solidFill>
            <a:srgbClr val="0B3556"/>
          </a:solidFill>
          <a:ln/>
        </p:spPr>
      </p:sp>
      <p:sp>
        <p:nvSpPr>
          <p:cNvPr id="30" name="Text 25"/>
          <p:cNvSpPr txBox="1"/>
          <p:nvPr/>
        </p:nvSpPr>
        <p:spPr>
          <a:xfrm>
            <a:off x="3643884" y="5385816"/>
            <a:ext cx="566928"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POST</a:t>
            </a:r>
            <a:endParaRPr lang="en-US" sz="850" dirty="0"/>
          </a:p>
        </p:txBody>
      </p:sp>
      <p:sp>
        <p:nvSpPr>
          <p:cNvPr id="31" name="Text 26"/>
          <p:cNvSpPr txBox="1"/>
          <p:nvPr/>
        </p:nvSpPr>
        <p:spPr>
          <a:xfrm>
            <a:off x="3643884" y="5641848"/>
            <a:ext cx="2199132" cy="310896"/>
          </a:xfrm>
          <a:prstGeom prst="rect">
            <a:avLst/>
          </a:prstGeom>
          <a:noFill/>
          <a:ln/>
        </p:spPr>
        <p:txBody>
          <a:bodyPr wrap="square" lIns="0" tIns="0" rIns="0" bIns="0" rtlCol="0" anchor="t"/>
          <a:lstStyle/>
          <a:p>
            <a:pPr indent="0" marL="0">
              <a:lnSpc>
                <a:spcPct val="102000"/>
              </a:lnSpc>
              <a:buNone/>
            </a:pPr>
            <a:r>
              <a:rPr lang="en-US" sz="900" b="1" dirty="0">
                <a:solidFill>
                  <a:srgbClr val="0B3556"/>
                </a:solidFill>
                <a:latin typeface="Calibri" pitchFamily="34" charset="0"/>
                <a:ea typeface="Calibri" pitchFamily="34" charset="-122"/>
                <a:cs typeface="Calibri" pitchFamily="34" charset="-120"/>
              </a:rPr>
              <a:t>/api/giocatori</a:t>
            </a:r>
            <a:endParaRPr lang="en-US" sz="900" dirty="0"/>
          </a:p>
        </p:txBody>
      </p:sp>
      <p:sp>
        <p:nvSpPr>
          <p:cNvPr id="32" name="Text 27"/>
          <p:cNvSpPr txBox="1"/>
          <p:nvPr/>
        </p:nvSpPr>
        <p:spPr>
          <a:xfrm>
            <a:off x="3643884" y="5980176"/>
            <a:ext cx="2199132" cy="292608"/>
          </a:xfrm>
          <a:prstGeom prst="rect">
            <a:avLst/>
          </a:prstGeom>
          <a:noFill/>
          <a:ln/>
        </p:spPr>
        <p:txBody>
          <a:bodyPr wrap="square" lIns="0" tIns="0" rIns="0" bIns="0" rtlCol="0" anchor="t"/>
          <a:lstStyle/>
          <a:p>
            <a:pPr indent="0" marL="0">
              <a:lnSpc>
                <a:spcPct val="105000"/>
              </a:lnSpc>
              <a:buNone/>
            </a:pPr>
            <a:r>
              <a:rPr lang="en-US" sz="800" dirty="0">
                <a:solidFill>
                  <a:srgbClr val="55677A"/>
                </a:solidFill>
                <a:latin typeface="Calibri" pitchFamily="34" charset="0"/>
                <a:ea typeface="Calibri" pitchFamily="34" charset="-122"/>
                <a:cs typeface="Calibri" pitchFamily="34" charset="-120"/>
              </a:rPr>
              <a:t>Aggiunge un giocatore (solo Admin).</a:t>
            </a:r>
            <a:endParaRPr lang="en-US" sz="800" dirty="0"/>
          </a:p>
        </p:txBody>
      </p:sp>
      <p:sp>
        <p:nvSpPr>
          <p:cNvPr id="33" name="Shape 28"/>
          <p:cNvSpPr/>
          <p:nvPr/>
        </p:nvSpPr>
        <p:spPr>
          <a:xfrm>
            <a:off x="6172200" y="5257800"/>
            <a:ext cx="2491740" cy="1051560"/>
          </a:xfrm>
          <a:prstGeom prst="roundRect">
            <a:avLst>
              <a:gd name="adj" fmla="val 7826"/>
            </a:avLst>
          </a:prstGeom>
          <a:solidFill>
            <a:srgbClr val="FFFFFF"/>
          </a:solidFill>
          <a:ln/>
          <a:effectLst>
            <a:outerShdw sx="100000" sy="100000" kx="0" ky="0" algn="bl" rotWithShape="0" blurRad="63500" dist="25400" dir="5400000">
              <a:srgbClr val="0B3556">
                <a:alpha val="8000"/>
              </a:srgbClr>
            </a:outerShdw>
          </a:effectLst>
        </p:spPr>
      </p:sp>
      <p:sp>
        <p:nvSpPr>
          <p:cNvPr id="34" name="Shape 29"/>
          <p:cNvSpPr/>
          <p:nvPr/>
        </p:nvSpPr>
        <p:spPr>
          <a:xfrm>
            <a:off x="6318504" y="5385816"/>
            <a:ext cx="566928" cy="219456"/>
          </a:xfrm>
          <a:prstGeom prst="roundRect">
            <a:avLst>
              <a:gd name="adj" fmla="val 50000"/>
            </a:avLst>
          </a:prstGeom>
          <a:solidFill>
            <a:srgbClr val="0B3556"/>
          </a:solidFill>
          <a:ln/>
        </p:spPr>
      </p:sp>
      <p:sp>
        <p:nvSpPr>
          <p:cNvPr id="35" name="Text 30"/>
          <p:cNvSpPr txBox="1"/>
          <p:nvPr/>
        </p:nvSpPr>
        <p:spPr>
          <a:xfrm>
            <a:off x="6318504" y="5385816"/>
            <a:ext cx="566928"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POST</a:t>
            </a:r>
            <a:endParaRPr lang="en-US" sz="850" dirty="0"/>
          </a:p>
        </p:txBody>
      </p:sp>
      <p:sp>
        <p:nvSpPr>
          <p:cNvPr id="36" name="Text 31"/>
          <p:cNvSpPr txBox="1"/>
          <p:nvPr/>
        </p:nvSpPr>
        <p:spPr>
          <a:xfrm>
            <a:off x="6318504" y="5641848"/>
            <a:ext cx="2199132" cy="310896"/>
          </a:xfrm>
          <a:prstGeom prst="rect">
            <a:avLst/>
          </a:prstGeom>
          <a:noFill/>
          <a:ln/>
        </p:spPr>
        <p:txBody>
          <a:bodyPr wrap="square" lIns="0" tIns="0" rIns="0" bIns="0" rtlCol="0" anchor="t"/>
          <a:lstStyle/>
          <a:p>
            <a:pPr indent="0" marL="0">
              <a:lnSpc>
                <a:spcPct val="102000"/>
              </a:lnSpc>
              <a:buNone/>
            </a:pPr>
            <a:r>
              <a:rPr lang="en-US" sz="900" b="1" dirty="0">
                <a:solidFill>
                  <a:srgbClr val="0B3556"/>
                </a:solidFill>
                <a:latin typeface="Calibri" pitchFamily="34" charset="0"/>
                <a:ea typeface="Calibri" pitchFamily="34" charset="-122"/>
                <a:cs typeface="Calibri" pitchFamily="34" charset="-120"/>
              </a:rPr>
              <a:t>/api/certificati</a:t>
            </a:r>
            <a:endParaRPr lang="en-US" sz="900" dirty="0"/>
          </a:p>
        </p:txBody>
      </p:sp>
      <p:sp>
        <p:nvSpPr>
          <p:cNvPr id="37" name="Text 32"/>
          <p:cNvSpPr txBox="1"/>
          <p:nvPr/>
        </p:nvSpPr>
        <p:spPr>
          <a:xfrm>
            <a:off x="6318504" y="5980176"/>
            <a:ext cx="2199132" cy="292608"/>
          </a:xfrm>
          <a:prstGeom prst="rect">
            <a:avLst/>
          </a:prstGeom>
          <a:noFill/>
          <a:ln/>
        </p:spPr>
        <p:txBody>
          <a:bodyPr wrap="square" lIns="0" tIns="0" rIns="0" bIns="0" rtlCol="0" anchor="t"/>
          <a:lstStyle/>
          <a:p>
            <a:pPr indent="0" marL="0">
              <a:lnSpc>
                <a:spcPct val="105000"/>
              </a:lnSpc>
              <a:buNone/>
            </a:pPr>
            <a:r>
              <a:rPr lang="en-US" sz="800" dirty="0">
                <a:solidFill>
                  <a:srgbClr val="55677A"/>
                </a:solidFill>
                <a:latin typeface="Calibri" pitchFamily="34" charset="0"/>
                <a:ea typeface="Calibri" pitchFamily="34" charset="-122"/>
                <a:cs typeface="Calibri" pitchFamily="34" charset="-120"/>
              </a:rPr>
              <a:t>Carica il certificato di un giocatore.</a:t>
            </a:r>
            <a:endParaRPr lang="en-US" sz="800" dirty="0"/>
          </a:p>
        </p:txBody>
      </p:sp>
      <p:sp>
        <p:nvSpPr>
          <p:cNvPr id="38" name="Shape 33"/>
          <p:cNvSpPr/>
          <p:nvPr/>
        </p:nvSpPr>
        <p:spPr>
          <a:xfrm>
            <a:off x="8846820" y="5257800"/>
            <a:ext cx="2491740" cy="1051560"/>
          </a:xfrm>
          <a:prstGeom prst="roundRect">
            <a:avLst>
              <a:gd name="adj" fmla="val 7826"/>
            </a:avLst>
          </a:prstGeom>
          <a:solidFill>
            <a:srgbClr val="FFFFFF"/>
          </a:solidFill>
          <a:ln/>
          <a:effectLst>
            <a:outerShdw sx="100000" sy="100000" kx="0" ky="0" algn="bl" rotWithShape="0" blurRad="63500" dist="25400" dir="5400000">
              <a:srgbClr val="0B3556">
                <a:alpha val="8000"/>
              </a:srgbClr>
            </a:outerShdw>
          </a:effectLst>
        </p:spPr>
      </p:sp>
      <p:sp>
        <p:nvSpPr>
          <p:cNvPr id="39" name="Shape 34"/>
          <p:cNvSpPr/>
          <p:nvPr/>
        </p:nvSpPr>
        <p:spPr>
          <a:xfrm>
            <a:off x="8993124" y="5385816"/>
            <a:ext cx="566928" cy="219456"/>
          </a:xfrm>
          <a:prstGeom prst="roundRect">
            <a:avLst>
              <a:gd name="adj" fmla="val 50000"/>
            </a:avLst>
          </a:prstGeom>
          <a:solidFill>
            <a:srgbClr val="0B3556"/>
          </a:solidFill>
          <a:ln/>
        </p:spPr>
      </p:sp>
      <p:sp>
        <p:nvSpPr>
          <p:cNvPr id="40" name="Text 35"/>
          <p:cNvSpPr txBox="1"/>
          <p:nvPr/>
        </p:nvSpPr>
        <p:spPr>
          <a:xfrm>
            <a:off x="8993124" y="5385816"/>
            <a:ext cx="566928" cy="219456"/>
          </a:xfrm>
          <a:prstGeom prst="rect">
            <a:avLst/>
          </a:prstGeom>
          <a:noFill/>
          <a:ln/>
        </p:spPr>
        <p:txBody>
          <a:bodyPr wrap="square" lIns="0" tIns="0" rIns="0" bIns="0"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GET</a:t>
            </a:r>
            <a:endParaRPr lang="en-US" sz="850" dirty="0"/>
          </a:p>
        </p:txBody>
      </p:sp>
      <p:sp>
        <p:nvSpPr>
          <p:cNvPr id="41" name="Text 36"/>
          <p:cNvSpPr txBox="1"/>
          <p:nvPr/>
        </p:nvSpPr>
        <p:spPr>
          <a:xfrm>
            <a:off x="8993124" y="5641848"/>
            <a:ext cx="2199132" cy="310896"/>
          </a:xfrm>
          <a:prstGeom prst="rect">
            <a:avLst/>
          </a:prstGeom>
          <a:noFill/>
          <a:ln/>
        </p:spPr>
        <p:txBody>
          <a:bodyPr wrap="square" lIns="0" tIns="0" rIns="0" bIns="0" rtlCol="0" anchor="t"/>
          <a:lstStyle/>
          <a:p>
            <a:pPr indent="0" marL="0">
              <a:lnSpc>
                <a:spcPct val="102000"/>
              </a:lnSpc>
              <a:buNone/>
            </a:pPr>
            <a:r>
              <a:rPr lang="en-US" sz="900" b="1" dirty="0">
                <a:solidFill>
                  <a:srgbClr val="0B3556"/>
                </a:solidFill>
                <a:latin typeface="Calibri" pitchFamily="34" charset="0"/>
                <a:ea typeface="Calibri" pitchFamily="34" charset="-122"/>
                <a:cs typeface="Calibri" pitchFamily="34" charset="-120"/>
              </a:rPr>
              <a:t>/api/cron/controlla-scadenze</a:t>
            </a:r>
            <a:endParaRPr lang="en-US" sz="900" dirty="0"/>
          </a:p>
        </p:txBody>
      </p:sp>
      <p:sp>
        <p:nvSpPr>
          <p:cNvPr id="42" name="Text 37"/>
          <p:cNvSpPr txBox="1"/>
          <p:nvPr/>
        </p:nvSpPr>
        <p:spPr>
          <a:xfrm>
            <a:off x="8993124" y="5980176"/>
            <a:ext cx="2199132" cy="292608"/>
          </a:xfrm>
          <a:prstGeom prst="rect">
            <a:avLst/>
          </a:prstGeom>
          <a:noFill/>
          <a:ln/>
        </p:spPr>
        <p:txBody>
          <a:bodyPr wrap="square" lIns="0" tIns="0" rIns="0" bIns="0" rtlCol="0" anchor="t"/>
          <a:lstStyle/>
          <a:p>
            <a:pPr indent="0" marL="0">
              <a:lnSpc>
                <a:spcPct val="105000"/>
              </a:lnSpc>
              <a:buNone/>
            </a:pPr>
            <a:r>
              <a:rPr lang="en-US" sz="800" dirty="0">
                <a:solidFill>
                  <a:srgbClr val="55677A"/>
                </a:solidFill>
                <a:latin typeface="Calibri" pitchFamily="34" charset="0"/>
                <a:ea typeface="Calibri" pitchFamily="34" charset="-122"/>
                <a:cs typeface="Calibri" pitchFamily="34" charset="-120"/>
              </a:rPr>
              <a:t>Controllo automatico delle scadenze (cron).</a:t>
            </a:r>
            <a:endParaRPr lang="en-US" sz="800" dirty="0"/>
          </a:p>
        </p:txBody>
      </p:sp>
      <p:sp>
        <p:nvSpPr>
          <p:cNvPr id="43" name="Text 3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5677A"/>
                </a:solidFill>
                <a:latin typeface="Calibri" pitchFamily="34" charset="0"/>
                <a:ea typeface="Calibri" pitchFamily="34" charset="-122"/>
                <a:cs typeface="Calibri" pitchFamily="34" charset="-120"/>
              </a:rPr>
              <a:t>STAGE  ·  GESTIONE CERTIFICATI MEDICI</a:t>
            </a:r>
            <a:endParaRPr lang="en-US" sz="900" dirty="0"/>
          </a:p>
        </p:txBody>
      </p:sp>
      <p:sp>
        <p:nvSpPr>
          <p:cNvPr id="44" name="Text 39"/>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900" dirty="0">
                <a:solidFill>
                  <a:srgbClr val="5567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822960" y="502920"/>
            <a:ext cx="5943600" cy="329184"/>
          </a:xfrm>
          <a:prstGeom prst="roundRect">
            <a:avLst>
              <a:gd name="adj" fmla="val 50000"/>
            </a:avLst>
          </a:prstGeom>
          <a:solidFill>
            <a:srgbClr val="E2892F"/>
          </a:solidFill>
          <a:ln/>
        </p:spPr>
      </p:sp>
      <p:sp>
        <p:nvSpPr>
          <p:cNvPr id="3" name="Text 1"/>
          <p:cNvSpPr txBox="1"/>
          <p:nvPr/>
        </p:nvSpPr>
        <p:spPr>
          <a:xfrm>
            <a:off x="822960" y="502920"/>
            <a:ext cx="5943600"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FASE 1 · 1 – 13 SETTEMBRE</a:t>
            </a:r>
            <a:endParaRPr lang="en-US" sz="1100" dirty="0"/>
          </a:p>
        </p:txBody>
      </p:sp>
      <p:sp>
        <p:nvSpPr>
          <p:cNvPr id="4" name="Text 2"/>
          <p:cNvSpPr txBox="1"/>
          <p:nvPr/>
        </p:nvSpPr>
        <p:spPr>
          <a:xfrm>
            <a:off x="822960" y="914400"/>
            <a:ext cx="10515600" cy="594360"/>
          </a:xfrm>
          <a:prstGeom prst="rect">
            <a:avLst/>
          </a:prstGeom>
          <a:noFill/>
          <a:ln/>
        </p:spPr>
        <p:txBody>
          <a:bodyPr wrap="square" lIns="0" tIns="0" rIns="0" bIns="0" rtlCol="0" anchor="ctr"/>
          <a:lstStyle/>
          <a:p>
            <a:pPr indent="0" marL="0">
              <a:buNone/>
            </a:pPr>
            <a:r>
              <a:rPr lang="en-US" sz="2800" b="1" dirty="0">
                <a:solidFill>
                  <a:srgbClr val="0B3556"/>
                </a:solidFill>
                <a:latin typeface="Cambria" pitchFamily="34" charset="0"/>
                <a:ea typeface="Cambria" pitchFamily="34" charset="-122"/>
                <a:cs typeface="Cambria" pitchFamily="34" charset="-120"/>
              </a:rPr>
              <a:t>Realizzazione delle fondamenta del progetto</a:t>
            </a:r>
            <a:endParaRPr lang="en-US" sz="2800" dirty="0"/>
          </a:p>
        </p:txBody>
      </p:sp>
      <p:sp>
        <p:nvSpPr>
          <p:cNvPr id="5" name="Text 3"/>
          <p:cNvSpPr txBox="1"/>
          <p:nvPr/>
        </p:nvSpPr>
        <p:spPr>
          <a:xfrm>
            <a:off x="822960" y="1481328"/>
            <a:ext cx="10515600" cy="548640"/>
          </a:xfrm>
          <a:prstGeom prst="rect">
            <a:avLst/>
          </a:prstGeom>
          <a:noFill/>
          <a:ln/>
        </p:spPr>
        <p:txBody>
          <a:bodyPr wrap="square" lIns="0" tIns="0" rIns="0" bIns="0" rtlCol="0" anchor="ctr"/>
          <a:lstStyle/>
          <a:p>
            <a:pPr indent="0" marL="0">
              <a:lnSpc>
                <a:spcPct val="115000"/>
              </a:lnSpc>
              <a:buNone/>
            </a:pPr>
            <a:r>
              <a:rPr lang="en-US" sz="1250" dirty="0">
                <a:solidFill>
                  <a:srgbClr val="55677A"/>
                </a:solidFill>
                <a:latin typeface="Calibri" pitchFamily="34" charset="0"/>
                <a:ea typeface="Calibri" pitchFamily="34" charset="-122"/>
                <a:cs typeface="Calibri" pitchFamily="34" charset="-120"/>
              </a:rPr>
              <a:t>Le prime due settimane sono servite a costruire una base solida — dal database al server, fino alla prima versione del sito e alla funzione più importante del progetto.</a:t>
            </a:r>
            <a:endParaRPr lang="en-US" sz="1250" dirty="0"/>
          </a:p>
        </p:txBody>
      </p:sp>
      <p:sp>
        <p:nvSpPr>
          <p:cNvPr id="6" name="Shape 4"/>
          <p:cNvSpPr/>
          <p:nvPr/>
        </p:nvSpPr>
        <p:spPr>
          <a:xfrm>
            <a:off x="1659636" y="3063240"/>
            <a:ext cx="658368" cy="658368"/>
          </a:xfrm>
          <a:prstGeom prst="ellipse">
            <a:avLst/>
          </a:prstGeom>
          <a:solidFill>
            <a:srgbClr val="0B3556"/>
          </a:solidFill>
          <a:ln/>
        </p:spPr>
      </p:sp>
      <p:pic>
        <p:nvPicPr>
          <p:cNvPr id="7" name="Image 0" descr="preencoded.png">    </p:cNvPr>
          <p:cNvPicPr>
            <a:picLocks noChangeAspect="1"/>
          </p:cNvPicPr>
          <p:nvPr/>
        </p:nvPicPr>
        <p:blipFill>
          <a:blip r:embed="rId1"/>
          <a:stretch>
            <a:fillRect/>
          </a:stretch>
        </p:blipFill>
        <p:spPr>
          <a:xfrm>
            <a:off x="1830812" y="3234416"/>
            <a:ext cx="316017" cy="316017"/>
          </a:xfrm>
          <a:prstGeom prst="rect">
            <a:avLst/>
          </a:prstGeom>
        </p:spPr>
      </p:pic>
      <p:sp>
        <p:nvSpPr>
          <p:cNvPr id="8" name="Shape 5"/>
          <p:cNvSpPr/>
          <p:nvPr/>
        </p:nvSpPr>
        <p:spPr>
          <a:xfrm>
            <a:off x="2115922" y="2954426"/>
            <a:ext cx="310896" cy="310896"/>
          </a:xfrm>
          <a:prstGeom prst="ellipse">
            <a:avLst/>
          </a:prstGeom>
          <a:solidFill>
            <a:srgbClr val="E2892F"/>
          </a:solidFill>
          <a:ln w="25400">
            <a:solidFill>
              <a:srgbClr val="F5F8FA"/>
            </a:solidFill>
            <a:prstDash val="solid"/>
          </a:ln>
        </p:spPr>
      </p:sp>
      <p:sp>
        <p:nvSpPr>
          <p:cNvPr id="9" name="Text 6"/>
          <p:cNvSpPr txBox="1"/>
          <p:nvPr/>
        </p:nvSpPr>
        <p:spPr>
          <a:xfrm>
            <a:off x="2115922" y="2954426"/>
            <a:ext cx="310896" cy="310896"/>
          </a:xfrm>
          <a:prstGeom prst="rect">
            <a:avLst/>
          </a:prstGeom>
          <a:noFill/>
          <a:ln/>
        </p:spPr>
        <p:txBody>
          <a:bodyPr wrap="square" lIns="0" tIns="0" rIns="0" bIns="0" rtlCol="0" anchor="ctr"/>
          <a:lstStyle/>
          <a:p>
            <a:pPr algn="ctr" indent="0" marL="0">
              <a:buNone/>
            </a:pPr>
            <a:r>
              <a:rPr lang="en-US" sz="1150" b="1" dirty="0">
                <a:solidFill>
                  <a:srgbClr val="0B3556"/>
                </a:solidFill>
                <a:latin typeface="Calibri" pitchFamily="34" charset="0"/>
                <a:ea typeface="Calibri" pitchFamily="34" charset="-122"/>
                <a:cs typeface="Calibri" pitchFamily="34" charset="-120"/>
              </a:rPr>
              <a:t>1</a:t>
            </a:r>
            <a:endParaRPr lang="en-US" sz="1150" dirty="0"/>
          </a:p>
        </p:txBody>
      </p:sp>
      <p:sp>
        <p:nvSpPr>
          <p:cNvPr id="10" name="Text 7"/>
          <p:cNvSpPr txBox="1"/>
          <p:nvPr/>
        </p:nvSpPr>
        <p:spPr>
          <a:xfrm>
            <a:off x="822960" y="3941064"/>
            <a:ext cx="2331720" cy="621792"/>
          </a:xfrm>
          <a:prstGeom prst="rect">
            <a:avLst/>
          </a:prstGeom>
          <a:noFill/>
          <a:ln/>
        </p:spPr>
        <p:txBody>
          <a:bodyPr wrap="square" lIns="0" tIns="0" rIns="0" bIns="0" rtlCol="0" anchor="t"/>
          <a:lstStyle/>
          <a:p>
            <a:pPr algn="ctr" indent="0" marL="0">
              <a:buNone/>
            </a:pPr>
            <a:r>
              <a:rPr lang="en-US" sz="1450" b="1" dirty="0">
                <a:solidFill>
                  <a:srgbClr val="0B3556"/>
                </a:solidFill>
                <a:latin typeface="Cambria" pitchFamily="34" charset="0"/>
                <a:ea typeface="Cambria" pitchFamily="34" charset="-122"/>
                <a:cs typeface="Cambria" pitchFamily="34" charset="-120"/>
              </a:rPr>
              <a:t>Ho progettato il database</a:t>
            </a:r>
            <a:endParaRPr lang="en-US" sz="1450" dirty="0"/>
          </a:p>
        </p:txBody>
      </p:sp>
      <p:sp>
        <p:nvSpPr>
          <p:cNvPr id="11" name="Text 8"/>
          <p:cNvSpPr txBox="1"/>
          <p:nvPr/>
        </p:nvSpPr>
        <p:spPr>
          <a:xfrm>
            <a:off x="822960" y="4636008"/>
            <a:ext cx="2331720" cy="2194560"/>
          </a:xfrm>
          <a:prstGeom prst="rect">
            <a:avLst/>
          </a:prstGeom>
          <a:noFill/>
          <a:ln/>
        </p:spPr>
        <p:txBody>
          <a:bodyPr wrap="square" lIns="0" tIns="0" rIns="0" bIns="0" rtlCol="0" anchor="t"/>
          <a:lstStyle/>
          <a:p>
            <a:pPr algn="ctr" indent="0" marL="0">
              <a:lnSpc>
                <a:spcPct val="120000"/>
              </a:lnSpc>
              <a:buNone/>
            </a:pPr>
            <a:r>
              <a:rPr lang="en-US" sz="1050" dirty="0">
                <a:solidFill>
                  <a:srgbClr val="55677A"/>
                </a:solidFill>
                <a:latin typeface="Calibri" pitchFamily="34" charset="0"/>
                <a:ea typeface="Calibri" pitchFamily="34" charset="-122"/>
                <a:cs typeface="Calibri" pitchFamily="34" charset="-120"/>
              </a:rPr>
              <a:t>Tabelle (squadre, persone, giocatori, certificati) collegate tra loro con un identificativo (id), su Supabase (PostgreSQL online), senza dati ripetuti.</a:t>
            </a:r>
            <a:endParaRPr lang="en-US" sz="1050" dirty="0"/>
          </a:p>
        </p:txBody>
      </p:sp>
      <p:sp>
        <p:nvSpPr>
          <p:cNvPr id="12" name="Text 9"/>
          <p:cNvSpPr txBox="1"/>
          <p:nvPr/>
        </p:nvSpPr>
        <p:spPr>
          <a:xfrm>
            <a:off x="3154680" y="3081528"/>
            <a:ext cx="557784" cy="658368"/>
          </a:xfrm>
          <a:prstGeom prst="rect">
            <a:avLst/>
          </a:prstGeom>
          <a:noFill/>
          <a:ln/>
        </p:spPr>
        <p:txBody>
          <a:bodyPr wrap="square" lIns="0" tIns="0" rIns="0" bIns="0" rtlCol="0" anchor="ctr"/>
          <a:lstStyle/>
          <a:p>
            <a:pPr algn="ctr" indent="0" marL="0">
              <a:buNone/>
            </a:pPr>
            <a:r>
              <a:rPr lang="en-US" sz="2200" b="1" dirty="0">
                <a:solidFill>
                  <a:srgbClr val="E2892F"/>
                </a:solidFill>
                <a:latin typeface="Calibri" pitchFamily="34" charset="0"/>
                <a:ea typeface="Calibri" pitchFamily="34" charset="-122"/>
                <a:cs typeface="Calibri" pitchFamily="34" charset="-120"/>
              </a:rPr>
              <a:t>→</a:t>
            </a:r>
            <a:endParaRPr lang="en-US" sz="2200" dirty="0"/>
          </a:p>
        </p:txBody>
      </p:sp>
      <p:sp>
        <p:nvSpPr>
          <p:cNvPr id="13" name="Shape 10"/>
          <p:cNvSpPr/>
          <p:nvPr/>
        </p:nvSpPr>
        <p:spPr>
          <a:xfrm>
            <a:off x="4549140" y="3063240"/>
            <a:ext cx="658368" cy="658368"/>
          </a:xfrm>
          <a:prstGeom prst="ellipse">
            <a:avLst/>
          </a:prstGeom>
          <a:solidFill>
            <a:srgbClr val="0B3556"/>
          </a:solidFill>
          <a:ln/>
        </p:spPr>
      </p:sp>
      <p:pic>
        <p:nvPicPr>
          <p:cNvPr id="14" name="Image 1" descr="preencoded.png">    </p:cNvPr>
          <p:cNvPicPr>
            <a:picLocks noChangeAspect="1"/>
          </p:cNvPicPr>
          <p:nvPr/>
        </p:nvPicPr>
        <p:blipFill>
          <a:blip r:embed="rId2"/>
          <a:stretch>
            <a:fillRect/>
          </a:stretch>
        </p:blipFill>
        <p:spPr>
          <a:xfrm>
            <a:off x="4720316" y="3234416"/>
            <a:ext cx="316017" cy="316017"/>
          </a:xfrm>
          <a:prstGeom prst="rect">
            <a:avLst/>
          </a:prstGeom>
        </p:spPr>
      </p:pic>
      <p:sp>
        <p:nvSpPr>
          <p:cNvPr id="15" name="Shape 11"/>
          <p:cNvSpPr/>
          <p:nvPr/>
        </p:nvSpPr>
        <p:spPr>
          <a:xfrm>
            <a:off x="5005426" y="2954426"/>
            <a:ext cx="310896" cy="310896"/>
          </a:xfrm>
          <a:prstGeom prst="ellipse">
            <a:avLst/>
          </a:prstGeom>
          <a:solidFill>
            <a:srgbClr val="E2892F"/>
          </a:solidFill>
          <a:ln w="25400">
            <a:solidFill>
              <a:srgbClr val="F5F8FA"/>
            </a:solidFill>
            <a:prstDash val="solid"/>
          </a:ln>
        </p:spPr>
      </p:sp>
      <p:sp>
        <p:nvSpPr>
          <p:cNvPr id="16" name="Text 12"/>
          <p:cNvSpPr txBox="1"/>
          <p:nvPr/>
        </p:nvSpPr>
        <p:spPr>
          <a:xfrm>
            <a:off x="5005426" y="2954426"/>
            <a:ext cx="310896" cy="310896"/>
          </a:xfrm>
          <a:prstGeom prst="rect">
            <a:avLst/>
          </a:prstGeom>
          <a:noFill/>
          <a:ln/>
        </p:spPr>
        <p:txBody>
          <a:bodyPr wrap="square" lIns="0" tIns="0" rIns="0" bIns="0" rtlCol="0" anchor="ctr"/>
          <a:lstStyle/>
          <a:p>
            <a:pPr algn="ctr" indent="0" marL="0">
              <a:buNone/>
            </a:pPr>
            <a:r>
              <a:rPr lang="en-US" sz="1150" b="1" dirty="0">
                <a:solidFill>
                  <a:srgbClr val="0B3556"/>
                </a:solidFill>
                <a:latin typeface="Calibri" pitchFamily="34" charset="0"/>
                <a:ea typeface="Calibri" pitchFamily="34" charset="-122"/>
                <a:cs typeface="Calibri" pitchFamily="34" charset="-120"/>
              </a:rPr>
              <a:t>2</a:t>
            </a:r>
            <a:endParaRPr lang="en-US" sz="1150" dirty="0"/>
          </a:p>
        </p:txBody>
      </p:sp>
      <p:sp>
        <p:nvSpPr>
          <p:cNvPr id="17" name="Text 13"/>
          <p:cNvSpPr txBox="1"/>
          <p:nvPr/>
        </p:nvSpPr>
        <p:spPr>
          <a:xfrm>
            <a:off x="3712464" y="3941064"/>
            <a:ext cx="2331720" cy="621792"/>
          </a:xfrm>
          <a:prstGeom prst="rect">
            <a:avLst/>
          </a:prstGeom>
          <a:noFill/>
          <a:ln/>
        </p:spPr>
        <p:txBody>
          <a:bodyPr wrap="square" lIns="0" tIns="0" rIns="0" bIns="0" rtlCol="0" anchor="t"/>
          <a:lstStyle/>
          <a:p>
            <a:pPr algn="ctr" indent="0" marL="0">
              <a:buNone/>
            </a:pPr>
            <a:r>
              <a:rPr lang="en-US" sz="1450" b="1" dirty="0">
                <a:solidFill>
                  <a:srgbClr val="0B3556"/>
                </a:solidFill>
                <a:latin typeface="Cambria" pitchFamily="34" charset="0"/>
                <a:ea typeface="Cambria" pitchFamily="34" charset="-122"/>
                <a:cs typeface="Cambria" pitchFamily="34" charset="-120"/>
              </a:rPr>
              <a:t>Ho costruito il server</a:t>
            </a:r>
            <a:endParaRPr lang="en-US" sz="1450" dirty="0"/>
          </a:p>
        </p:txBody>
      </p:sp>
      <p:sp>
        <p:nvSpPr>
          <p:cNvPr id="18" name="Text 14"/>
          <p:cNvSpPr txBox="1"/>
          <p:nvPr/>
        </p:nvSpPr>
        <p:spPr>
          <a:xfrm>
            <a:off x="3712464" y="4636008"/>
            <a:ext cx="2331720" cy="2194560"/>
          </a:xfrm>
          <a:prstGeom prst="rect">
            <a:avLst/>
          </a:prstGeom>
          <a:noFill/>
          <a:ln/>
        </p:spPr>
        <p:txBody>
          <a:bodyPr wrap="square" lIns="0" tIns="0" rIns="0" bIns="0" rtlCol="0" anchor="t"/>
          <a:lstStyle/>
          <a:p>
            <a:pPr algn="ctr" indent="0" marL="0">
              <a:lnSpc>
                <a:spcPct val="120000"/>
              </a:lnSpc>
              <a:buNone/>
            </a:pPr>
            <a:r>
              <a:rPr lang="en-US" sz="1050" dirty="0">
                <a:solidFill>
                  <a:srgbClr val="55677A"/>
                </a:solidFill>
                <a:latin typeface="Calibri" pitchFamily="34" charset="0"/>
                <a:ea typeface="Calibri" pitchFamily="34" charset="-122"/>
                <a:cs typeface="Calibri" pitchFamily="34" charset="-120"/>
              </a:rPr>
              <a:t>Con Node.js ed Express, come richiesto dall’azienda: riceve le richieste del sito e parla con il database tramite la libreria @supabase/supabase-js.</a:t>
            </a:r>
            <a:endParaRPr lang="en-US" sz="1050" dirty="0"/>
          </a:p>
        </p:txBody>
      </p:sp>
      <p:sp>
        <p:nvSpPr>
          <p:cNvPr id="19" name="Text 15"/>
          <p:cNvSpPr txBox="1"/>
          <p:nvPr/>
        </p:nvSpPr>
        <p:spPr>
          <a:xfrm>
            <a:off x="6044184" y="3081528"/>
            <a:ext cx="557784" cy="658368"/>
          </a:xfrm>
          <a:prstGeom prst="rect">
            <a:avLst/>
          </a:prstGeom>
          <a:noFill/>
          <a:ln/>
        </p:spPr>
        <p:txBody>
          <a:bodyPr wrap="square" lIns="0" tIns="0" rIns="0" bIns="0" rtlCol="0" anchor="ctr"/>
          <a:lstStyle/>
          <a:p>
            <a:pPr algn="ctr" indent="0" marL="0">
              <a:buNone/>
            </a:pPr>
            <a:r>
              <a:rPr lang="en-US" sz="2200" b="1" dirty="0">
                <a:solidFill>
                  <a:srgbClr val="E2892F"/>
                </a:solidFill>
                <a:latin typeface="Calibri" pitchFamily="34" charset="0"/>
                <a:ea typeface="Calibri" pitchFamily="34" charset="-122"/>
                <a:cs typeface="Calibri" pitchFamily="34" charset="-120"/>
              </a:rPr>
              <a:t>→</a:t>
            </a:r>
            <a:endParaRPr lang="en-US" sz="2200" dirty="0"/>
          </a:p>
        </p:txBody>
      </p:sp>
      <p:sp>
        <p:nvSpPr>
          <p:cNvPr id="20" name="Shape 16"/>
          <p:cNvSpPr/>
          <p:nvPr/>
        </p:nvSpPr>
        <p:spPr>
          <a:xfrm>
            <a:off x="7438644" y="3063240"/>
            <a:ext cx="658368" cy="658368"/>
          </a:xfrm>
          <a:prstGeom prst="ellipse">
            <a:avLst/>
          </a:prstGeom>
          <a:solidFill>
            <a:srgbClr val="0B3556"/>
          </a:solidFill>
          <a:ln/>
        </p:spPr>
      </p:sp>
      <p:pic>
        <p:nvPicPr>
          <p:cNvPr id="21" name="Image 2" descr="preencoded.png">    </p:cNvPr>
          <p:cNvPicPr>
            <a:picLocks noChangeAspect="1"/>
          </p:cNvPicPr>
          <p:nvPr/>
        </p:nvPicPr>
        <p:blipFill>
          <a:blip r:embed="rId3"/>
          <a:stretch>
            <a:fillRect/>
          </a:stretch>
        </p:blipFill>
        <p:spPr>
          <a:xfrm>
            <a:off x="7609820" y="3234416"/>
            <a:ext cx="316017" cy="316017"/>
          </a:xfrm>
          <a:prstGeom prst="rect">
            <a:avLst/>
          </a:prstGeom>
        </p:spPr>
      </p:pic>
      <p:sp>
        <p:nvSpPr>
          <p:cNvPr id="22" name="Shape 17"/>
          <p:cNvSpPr/>
          <p:nvPr/>
        </p:nvSpPr>
        <p:spPr>
          <a:xfrm>
            <a:off x="7894930" y="2954426"/>
            <a:ext cx="310896" cy="310896"/>
          </a:xfrm>
          <a:prstGeom prst="ellipse">
            <a:avLst/>
          </a:prstGeom>
          <a:solidFill>
            <a:srgbClr val="E2892F"/>
          </a:solidFill>
          <a:ln w="25400">
            <a:solidFill>
              <a:srgbClr val="F5F8FA"/>
            </a:solidFill>
            <a:prstDash val="solid"/>
          </a:ln>
        </p:spPr>
      </p:sp>
      <p:sp>
        <p:nvSpPr>
          <p:cNvPr id="23" name="Text 18"/>
          <p:cNvSpPr txBox="1"/>
          <p:nvPr/>
        </p:nvSpPr>
        <p:spPr>
          <a:xfrm>
            <a:off x="7894930" y="2954426"/>
            <a:ext cx="310896" cy="310896"/>
          </a:xfrm>
          <a:prstGeom prst="rect">
            <a:avLst/>
          </a:prstGeom>
          <a:noFill/>
          <a:ln/>
        </p:spPr>
        <p:txBody>
          <a:bodyPr wrap="square" lIns="0" tIns="0" rIns="0" bIns="0" rtlCol="0" anchor="ctr"/>
          <a:lstStyle/>
          <a:p>
            <a:pPr algn="ctr" indent="0" marL="0">
              <a:buNone/>
            </a:pPr>
            <a:r>
              <a:rPr lang="en-US" sz="1150" b="1" dirty="0">
                <a:solidFill>
                  <a:srgbClr val="0B3556"/>
                </a:solidFill>
                <a:latin typeface="Calibri" pitchFamily="34" charset="0"/>
                <a:ea typeface="Calibri" pitchFamily="34" charset="-122"/>
                <a:cs typeface="Calibri" pitchFamily="34" charset="-120"/>
              </a:rPr>
              <a:t>3</a:t>
            </a:r>
            <a:endParaRPr lang="en-US" sz="1150" dirty="0"/>
          </a:p>
        </p:txBody>
      </p:sp>
      <p:sp>
        <p:nvSpPr>
          <p:cNvPr id="24" name="Text 19"/>
          <p:cNvSpPr txBox="1"/>
          <p:nvPr/>
        </p:nvSpPr>
        <p:spPr>
          <a:xfrm>
            <a:off x="6601968" y="3941064"/>
            <a:ext cx="2331720" cy="621792"/>
          </a:xfrm>
          <a:prstGeom prst="rect">
            <a:avLst/>
          </a:prstGeom>
          <a:noFill/>
          <a:ln/>
        </p:spPr>
        <p:txBody>
          <a:bodyPr wrap="square" lIns="0" tIns="0" rIns="0" bIns="0" rtlCol="0" anchor="t"/>
          <a:lstStyle/>
          <a:p>
            <a:pPr algn="ctr" indent="0" marL="0">
              <a:buNone/>
            </a:pPr>
            <a:r>
              <a:rPr lang="en-US" sz="1450" b="1" dirty="0">
                <a:solidFill>
                  <a:srgbClr val="0B3556"/>
                </a:solidFill>
                <a:latin typeface="Cambria" pitchFamily="34" charset="0"/>
                <a:ea typeface="Cambria" pitchFamily="34" charset="-122"/>
                <a:cs typeface="Cambria" pitchFamily="34" charset="-120"/>
              </a:rPr>
              <a:t>Ho scritto la prima versione del sito</a:t>
            </a:r>
            <a:endParaRPr lang="en-US" sz="1450" dirty="0"/>
          </a:p>
        </p:txBody>
      </p:sp>
      <p:sp>
        <p:nvSpPr>
          <p:cNvPr id="25" name="Text 20"/>
          <p:cNvSpPr txBox="1"/>
          <p:nvPr/>
        </p:nvSpPr>
        <p:spPr>
          <a:xfrm>
            <a:off x="6601968" y="4636008"/>
            <a:ext cx="2331720" cy="2194560"/>
          </a:xfrm>
          <a:prstGeom prst="rect">
            <a:avLst/>
          </a:prstGeom>
          <a:noFill/>
          <a:ln/>
        </p:spPr>
        <p:txBody>
          <a:bodyPr wrap="square" lIns="0" tIns="0" rIns="0" bIns="0" rtlCol="0" anchor="t"/>
          <a:lstStyle/>
          <a:p>
            <a:pPr algn="ctr" indent="0" marL="0">
              <a:lnSpc>
                <a:spcPct val="120000"/>
              </a:lnSpc>
              <a:buNone/>
            </a:pPr>
            <a:r>
              <a:rPr lang="en-US" sz="1050" dirty="0">
                <a:solidFill>
                  <a:srgbClr val="55677A"/>
                </a:solidFill>
                <a:latin typeface="Calibri" pitchFamily="34" charset="0"/>
                <a:ea typeface="Calibri" pitchFamily="34" charset="-122"/>
                <a:cs typeface="Calibri" pitchFamily="34" charset="-120"/>
              </a:rPr>
              <a:t>In HTML, CSS e JavaScript "puro" (index.html, style.css, main.js), senza framework: non ancora definitiva, ma già funzionante.</a:t>
            </a:r>
            <a:endParaRPr lang="en-US" sz="1050" dirty="0"/>
          </a:p>
        </p:txBody>
      </p:sp>
      <p:sp>
        <p:nvSpPr>
          <p:cNvPr id="26" name="Text 21"/>
          <p:cNvSpPr txBox="1"/>
          <p:nvPr/>
        </p:nvSpPr>
        <p:spPr>
          <a:xfrm>
            <a:off x="8933688" y="3081528"/>
            <a:ext cx="557784" cy="658368"/>
          </a:xfrm>
          <a:prstGeom prst="rect">
            <a:avLst/>
          </a:prstGeom>
          <a:noFill/>
          <a:ln/>
        </p:spPr>
        <p:txBody>
          <a:bodyPr wrap="square" lIns="0" tIns="0" rIns="0" bIns="0" rtlCol="0" anchor="ctr"/>
          <a:lstStyle/>
          <a:p>
            <a:pPr algn="ctr" indent="0" marL="0">
              <a:buNone/>
            </a:pPr>
            <a:r>
              <a:rPr lang="en-US" sz="2200" b="1" dirty="0">
                <a:solidFill>
                  <a:srgbClr val="E2892F"/>
                </a:solidFill>
                <a:latin typeface="Calibri" pitchFamily="34" charset="0"/>
                <a:ea typeface="Calibri" pitchFamily="34" charset="-122"/>
                <a:cs typeface="Calibri" pitchFamily="34" charset="-120"/>
              </a:rPr>
              <a:t>→</a:t>
            </a:r>
            <a:endParaRPr lang="en-US" sz="2200" dirty="0"/>
          </a:p>
        </p:txBody>
      </p:sp>
      <p:sp>
        <p:nvSpPr>
          <p:cNvPr id="27" name="Shape 22"/>
          <p:cNvSpPr/>
          <p:nvPr/>
        </p:nvSpPr>
        <p:spPr>
          <a:xfrm>
            <a:off x="10328148" y="3063240"/>
            <a:ext cx="658368" cy="658368"/>
          </a:xfrm>
          <a:prstGeom prst="ellipse">
            <a:avLst/>
          </a:prstGeom>
          <a:solidFill>
            <a:srgbClr val="0B3556"/>
          </a:solidFill>
          <a:ln/>
        </p:spPr>
      </p:sp>
      <p:pic>
        <p:nvPicPr>
          <p:cNvPr id="28" name="Image 3" descr="preencoded.png">    </p:cNvPr>
          <p:cNvPicPr>
            <a:picLocks noChangeAspect="1"/>
          </p:cNvPicPr>
          <p:nvPr/>
        </p:nvPicPr>
        <p:blipFill>
          <a:blip r:embed="rId4"/>
          <a:stretch>
            <a:fillRect/>
          </a:stretch>
        </p:blipFill>
        <p:spPr>
          <a:xfrm>
            <a:off x="10499324" y="3234416"/>
            <a:ext cx="316017" cy="316017"/>
          </a:xfrm>
          <a:prstGeom prst="rect">
            <a:avLst/>
          </a:prstGeom>
        </p:spPr>
      </p:pic>
      <p:sp>
        <p:nvSpPr>
          <p:cNvPr id="29" name="Shape 23"/>
          <p:cNvSpPr/>
          <p:nvPr/>
        </p:nvSpPr>
        <p:spPr>
          <a:xfrm>
            <a:off x="10784434" y="2954426"/>
            <a:ext cx="310896" cy="310896"/>
          </a:xfrm>
          <a:prstGeom prst="ellipse">
            <a:avLst/>
          </a:prstGeom>
          <a:solidFill>
            <a:srgbClr val="E2892F"/>
          </a:solidFill>
          <a:ln w="25400">
            <a:solidFill>
              <a:srgbClr val="F5F8FA"/>
            </a:solidFill>
            <a:prstDash val="solid"/>
          </a:ln>
        </p:spPr>
      </p:sp>
      <p:sp>
        <p:nvSpPr>
          <p:cNvPr id="30" name="Text 24"/>
          <p:cNvSpPr txBox="1"/>
          <p:nvPr/>
        </p:nvSpPr>
        <p:spPr>
          <a:xfrm>
            <a:off x="10784434" y="2954426"/>
            <a:ext cx="310896" cy="310896"/>
          </a:xfrm>
          <a:prstGeom prst="rect">
            <a:avLst/>
          </a:prstGeom>
          <a:noFill/>
          <a:ln/>
        </p:spPr>
        <p:txBody>
          <a:bodyPr wrap="square" lIns="0" tIns="0" rIns="0" bIns="0" rtlCol="0" anchor="ctr"/>
          <a:lstStyle/>
          <a:p>
            <a:pPr algn="ctr" indent="0" marL="0">
              <a:buNone/>
            </a:pPr>
            <a:r>
              <a:rPr lang="en-US" sz="1150" b="1" dirty="0">
                <a:solidFill>
                  <a:srgbClr val="0B3556"/>
                </a:solidFill>
                <a:latin typeface="Calibri" pitchFamily="34" charset="0"/>
                <a:ea typeface="Calibri" pitchFamily="34" charset="-122"/>
                <a:cs typeface="Calibri" pitchFamily="34" charset="-120"/>
              </a:rPr>
              <a:t>4</a:t>
            </a:r>
            <a:endParaRPr lang="en-US" sz="1150" dirty="0"/>
          </a:p>
        </p:txBody>
      </p:sp>
      <p:sp>
        <p:nvSpPr>
          <p:cNvPr id="31" name="Text 25"/>
          <p:cNvSpPr txBox="1"/>
          <p:nvPr/>
        </p:nvSpPr>
        <p:spPr>
          <a:xfrm>
            <a:off x="9491472" y="3941064"/>
            <a:ext cx="2331720" cy="621792"/>
          </a:xfrm>
          <a:prstGeom prst="rect">
            <a:avLst/>
          </a:prstGeom>
          <a:noFill/>
          <a:ln/>
        </p:spPr>
        <p:txBody>
          <a:bodyPr wrap="square" lIns="0" tIns="0" rIns="0" bIns="0" rtlCol="0" anchor="t"/>
          <a:lstStyle/>
          <a:p>
            <a:pPr algn="ctr" indent="0" marL="0">
              <a:buNone/>
            </a:pPr>
            <a:r>
              <a:rPr lang="en-US" sz="1450" b="1" dirty="0">
                <a:solidFill>
                  <a:srgbClr val="0B3556"/>
                </a:solidFill>
                <a:latin typeface="Cambria" pitchFamily="34" charset="0"/>
                <a:ea typeface="Cambria" pitchFamily="34" charset="-122"/>
                <a:cs typeface="Cambria" pitchFamily="34" charset="-120"/>
              </a:rPr>
              <a:t>Ho realizzato la gestione dei certificati</a:t>
            </a:r>
            <a:endParaRPr lang="en-US" sz="1450" dirty="0"/>
          </a:p>
        </p:txBody>
      </p:sp>
      <p:sp>
        <p:nvSpPr>
          <p:cNvPr id="32" name="Text 26"/>
          <p:cNvSpPr txBox="1"/>
          <p:nvPr/>
        </p:nvSpPr>
        <p:spPr>
          <a:xfrm>
            <a:off x="9491472" y="4636008"/>
            <a:ext cx="2331720" cy="2194560"/>
          </a:xfrm>
          <a:prstGeom prst="rect">
            <a:avLst/>
          </a:prstGeom>
          <a:noFill/>
          <a:ln/>
        </p:spPr>
        <p:txBody>
          <a:bodyPr wrap="square" lIns="0" tIns="0" rIns="0" bIns="0" rtlCol="0" anchor="t"/>
          <a:lstStyle/>
          <a:p>
            <a:pPr algn="ctr" indent="0" marL="0">
              <a:lnSpc>
                <a:spcPct val="120000"/>
              </a:lnSpc>
              <a:buNone/>
            </a:pPr>
            <a:r>
              <a:rPr lang="en-US" sz="1050" dirty="0">
                <a:solidFill>
                  <a:srgbClr val="55677A"/>
                </a:solidFill>
                <a:latin typeface="Calibri" pitchFamily="34" charset="0"/>
                <a:ea typeface="Calibri" pitchFamily="34" charset="-122"/>
                <a:cs typeface="Calibri" pitchFamily="34" charset="-120"/>
              </a:rPr>
              <a:t>La funzione principale: controllo automatico ogni giorno delle scadenze, avviso via email, caricamento e approvazione del certificato.</a:t>
            </a:r>
            <a:endParaRPr lang="en-US" sz="1050" dirty="0"/>
          </a:p>
        </p:txBody>
      </p:sp>
      <p:sp>
        <p:nvSpPr>
          <p:cNvPr id="33" name="Text 2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5677A"/>
                </a:solidFill>
                <a:latin typeface="Calibri" pitchFamily="34" charset="0"/>
                <a:ea typeface="Calibri" pitchFamily="34" charset="-122"/>
                <a:cs typeface="Calibri" pitchFamily="34" charset="-120"/>
              </a:rPr>
              <a:t>STAGE  ·  GESTIONE CERTIFICATI MEDICI</a:t>
            </a:r>
            <a:endParaRPr lang="en-US" sz="900" dirty="0"/>
          </a:p>
        </p:txBody>
      </p:sp>
      <p:sp>
        <p:nvSpPr>
          <p:cNvPr id="34" name="Text 28"/>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900" dirty="0">
                <a:solidFill>
                  <a:srgbClr val="5567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822960" y="502920"/>
            <a:ext cx="6163056" cy="329184"/>
          </a:xfrm>
          <a:prstGeom prst="roundRect">
            <a:avLst>
              <a:gd name="adj" fmla="val 50000"/>
            </a:avLst>
          </a:prstGeom>
          <a:solidFill>
            <a:srgbClr val="E2892F"/>
          </a:solidFill>
          <a:ln/>
        </p:spPr>
      </p:sp>
      <p:sp>
        <p:nvSpPr>
          <p:cNvPr id="3" name="Text 1"/>
          <p:cNvSpPr txBox="1"/>
          <p:nvPr/>
        </p:nvSpPr>
        <p:spPr>
          <a:xfrm>
            <a:off x="822960" y="502920"/>
            <a:ext cx="6163056"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FASE 2 · 14 – 21 SETTEMBRE</a:t>
            </a:r>
            <a:endParaRPr lang="en-US" sz="1100" dirty="0"/>
          </a:p>
        </p:txBody>
      </p:sp>
      <p:sp>
        <p:nvSpPr>
          <p:cNvPr id="4" name="Text 2"/>
          <p:cNvSpPr txBox="1"/>
          <p:nvPr/>
        </p:nvSpPr>
        <p:spPr>
          <a:xfrm>
            <a:off x="822960" y="914400"/>
            <a:ext cx="10515600" cy="594360"/>
          </a:xfrm>
          <a:prstGeom prst="rect">
            <a:avLst/>
          </a:prstGeom>
          <a:noFill/>
          <a:ln/>
        </p:spPr>
        <p:txBody>
          <a:bodyPr wrap="square" lIns="0" tIns="0" rIns="0" bIns="0" rtlCol="0" anchor="ctr"/>
          <a:lstStyle/>
          <a:p>
            <a:pPr indent="0" marL="0">
              <a:buNone/>
            </a:pPr>
            <a:r>
              <a:rPr lang="en-US" sz="2800" b="1" dirty="0">
                <a:solidFill>
                  <a:srgbClr val="0B3556"/>
                </a:solidFill>
                <a:latin typeface="Cambria" pitchFamily="34" charset="0"/>
                <a:ea typeface="Cambria" pitchFamily="34" charset="-122"/>
                <a:cs typeface="Cambria" pitchFamily="34" charset="-120"/>
              </a:rPr>
              <a:t>Autenticazione reale e pubblicazione online</a:t>
            </a:r>
            <a:endParaRPr lang="en-US" sz="2800" dirty="0"/>
          </a:p>
        </p:txBody>
      </p:sp>
      <p:sp>
        <p:nvSpPr>
          <p:cNvPr id="5" name="Text 3"/>
          <p:cNvSpPr txBox="1"/>
          <p:nvPr/>
        </p:nvSpPr>
        <p:spPr>
          <a:xfrm>
            <a:off x="822960" y="1481328"/>
            <a:ext cx="10515600" cy="548640"/>
          </a:xfrm>
          <a:prstGeom prst="rect">
            <a:avLst/>
          </a:prstGeom>
          <a:noFill/>
          <a:ln/>
        </p:spPr>
        <p:txBody>
          <a:bodyPr wrap="square" lIns="0" tIns="0" rIns="0" bIns="0" rtlCol="0" anchor="ctr"/>
          <a:lstStyle/>
          <a:p>
            <a:pPr indent="0" marL="0">
              <a:lnSpc>
                <a:spcPct val="115000"/>
              </a:lnSpc>
              <a:buNone/>
            </a:pPr>
            <a:r>
              <a:rPr lang="en-US" sz="1250" dirty="0">
                <a:solidFill>
                  <a:srgbClr val="55677A"/>
                </a:solidFill>
                <a:latin typeface="Calibri" pitchFamily="34" charset="0"/>
                <a:ea typeface="Calibri" pitchFamily="34" charset="-122"/>
                <a:cs typeface="Calibri" pitchFamily="34" charset="-120"/>
              </a:rPr>
              <a:t>Nella terza settimana il sito è stato pubblicato online: accesso vero e aggiornamenti automatici a ogni modifica.</a:t>
            </a:r>
            <a:endParaRPr lang="en-US" sz="1250" dirty="0"/>
          </a:p>
        </p:txBody>
      </p:sp>
      <p:sp>
        <p:nvSpPr>
          <p:cNvPr id="6" name="Shape 4"/>
          <p:cNvSpPr/>
          <p:nvPr/>
        </p:nvSpPr>
        <p:spPr>
          <a:xfrm>
            <a:off x="822960" y="2194560"/>
            <a:ext cx="3322320" cy="3977640"/>
          </a:xfrm>
          <a:prstGeom prst="roundRect">
            <a:avLst>
              <a:gd name="adj" fmla="val 3303"/>
            </a:avLst>
          </a:prstGeom>
          <a:solidFill>
            <a:srgbClr val="FFFFFF"/>
          </a:solidFill>
          <a:ln/>
          <a:effectLst>
            <a:outerShdw sx="100000" sy="100000" kx="0" ky="0" algn="bl" rotWithShape="0" blurRad="76200" dist="25400" dir="5400000">
              <a:srgbClr val="0B3556">
                <a:alpha val="10000"/>
              </a:srgbClr>
            </a:outerShdw>
          </a:effectLst>
        </p:spPr>
      </p:sp>
      <p:sp>
        <p:nvSpPr>
          <p:cNvPr id="7" name="Shape 5"/>
          <p:cNvSpPr/>
          <p:nvPr/>
        </p:nvSpPr>
        <p:spPr>
          <a:xfrm>
            <a:off x="1097280" y="2468880"/>
            <a:ext cx="548640" cy="548640"/>
          </a:xfrm>
          <a:prstGeom prst="ellipse">
            <a:avLst/>
          </a:prstGeom>
          <a:solidFill>
            <a:srgbClr val="0B3556"/>
          </a:solidFill>
          <a:ln/>
        </p:spPr>
      </p:sp>
      <p:pic>
        <p:nvPicPr>
          <p:cNvPr id="8" name="Image 0" descr="preencoded.png">    </p:cNvPr>
          <p:cNvPicPr>
            <a:picLocks noChangeAspect="1"/>
          </p:cNvPicPr>
          <p:nvPr/>
        </p:nvPicPr>
        <p:blipFill>
          <a:blip r:embed="rId1"/>
          <a:stretch>
            <a:fillRect/>
          </a:stretch>
        </p:blipFill>
        <p:spPr>
          <a:xfrm>
            <a:off x="1239926" y="2611526"/>
            <a:ext cx="263347" cy="263347"/>
          </a:xfrm>
          <a:prstGeom prst="rect">
            <a:avLst/>
          </a:prstGeom>
        </p:spPr>
      </p:pic>
      <p:sp>
        <p:nvSpPr>
          <p:cNvPr id="9" name="Text 6"/>
          <p:cNvSpPr txBox="1"/>
          <p:nvPr/>
        </p:nvSpPr>
        <p:spPr>
          <a:xfrm>
            <a:off x="1097280" y="3246120"/>
            <a:ext cx="2773680" cy="685800"/>
          </a:xfrm>
          <a:prstGeom prst="rect">
            <a:avLst/>
          </a:prstGeom>
          <a:noFill/>
          <a:ln/>
        </p:spPr>
        <p:txBody>
          <a:bodyPr wrap="square" lIns="0" tIns="0" rIns="0" bIns="0" rtlCol="0" anchor="t"/>
          <a:lstStyle/>
          <a:p>
            <a:pPr indent="0" marL="0">
              <a:buNone/>
            </a:pPr>
            <a:r>
              <a:rPr lang="en-US" sz="1500" b="1" dirty="0">
                <a:solidFill>
                  <a:srgbClr val="0B3556"/>
                </a:solidFill>
                <a:latin typeface="Cambria" pitchFamily="34" charset="0"/>
                <a:ea typeface="Cambria" pitchFamily="34" charset="-122"/>
                <a:cs typeface="Cambria" pitchFamily="34" charset="-120"/>
              </a:rPr>
              <a:t>Ho collegato un accesso vero</a:t>
            </a:r>
            <a:endParaRPr lang="en-US" sz="1500" dirty="0"/>
          </a:p>
        </p:txBody>
      </p:sp>
      <p:sp>
        <p:nvSpPr>
          <p:cNvPr id="10" name="Text 7"/>
          <p:cNvSpPr txBox="1"/>
          <p:nvPr/>
        </p:nvSpPr>
        <p:spPr>
          <a:xfrm>
            <a:off x="1097280" y="3977640"/>
            <a:ext cx="2773680" cy="1920240"/>
          </a:xfrm>
          <a:prstGeom prst="rect">
            <a:avLst/>
          </a:prstGeom>
          <a:noFill/>
          <a:ln/>
        </p:spPr>
        <p:txBody>
          <a:bodyPr wrap="square" lIns="0" tIns="0" rIns="0" bIns="0" rtlCol="0" anchor="t"/>
          <a:lstStyle/>
          <a:p>
            <a:pPr indent="0" marL="0">
              <a:lnSpc>
                <a:spcPct val="118000"/>
              </a:lnSpc>
              <a:buNone/>
            </a:pPr>
            <a:r>
              <a:rPr lang="en-US" sz="1100" dirty="0">
                <a:solidFill>
                  <a:srgbClr val="55677A"/>
                </a:solidFill>
                <a:latin typeface="Calibri" pitchFamily="34" charset="0"/>
                <a:ea typeface="Calibri" pitchFamily="34" charset="-122"/>
                <a:cs typeface="Calibri" pitchFamily="34" charset="-120"/>
              </a:rPr>
              <a:t>Login con email e password tramite Supabase Auth (gestisce da sola le password, mai viste dal server), con recupero della password dimenticata: sostituisce l’accesso "finto" iniziale.</a:t>
            </a:r>
            <a:endParaRPr lang="en-US" sz="1100" dirty="0"/>
          </a:p>
        </p:txBody>
      </p:sp>
      <p:sp>
        <p:nvSpPr>
          <p:cNvPr id="11" name="Shape 8"/>
          <p:cNvSpPr/>
          <p:nvPr/>
        </p:nvSpPr>
        <p:spPr>
          <a:xfrm>
            <a:off x="4419600" y="2194560"/>
            <a:ext cx="3322320" cy="3977640"/>
          </a:xfrm>
          <a:prstGeom prst="roundRect">
            <a:avLst>
              <a:gd name="adj" fmla="val 3303"/>
            </a:avLst>
          </a:prstGeom>
          <a:solidFill>
            <a:srgbClr val="FFFFFF"/>
          </a:solidFill>
          <a:ln/>
          <a:effectLst>
            <a:outerShdw sx="100000" sy="100000" kx="0" ky="0" algn="bl" rotWithShape="0" blurRad="76200" dist="25400" dir="5400000">
              <a:srgbClr val="0B3556">
                <a:alpha val="10000"/>
              </a:srgbClr>
            </a:outerShdw>
          </a:effectLst>
        </p:spPr>
      </p:sp>
      <p:sp>
        <p:nvSpPr>
          <p:cNvPr id="12" name="Shape 9"/>
          <p:cNvSpPr/>
          <p:nvPr/>
        </p:nvSpPr>
        <p:spPr>
          <a:xfrm>
            <a:off x="4693920" y="2468880"/>
            <a:ext cx="548640" cy="548640"/>
          </a:xfrm>
          <a:prstGeom prst="ellipse">
            <a:avLst/>
          </a:prstGeom>
          <a:solidFill>
            <a:srgbClr val="0B3556"/>
          </a:solidFill>
          <a:ln/>
        </p:spPr>
      </p:sp>
      <p:pic>
        <p:nvPicPr>
          <p:cNvPr id="13" name="Image 1" descr="preencoded.png">    </p:cNvPr>
          <p:cNvPicPr>
            <a:picLocks noChangeAspect="1"/>
          </p:cNvPicPr>
          <p:nvPr/>
        </p:nvPicPr>
        <p:blipFill>
          <a:blip r:embed="rId2"/>
          <a:stretch>
            <a:fillRect/>
          </a:stretch>
        </p:blipFill>
        <p:spPr>
          <a:xfrm>
            <a:off x="4836566" y="2611526"/>
            <a:ext cx="263347" cy="263347"/>
          </a:xfrm>
          <a:prstGeom prst="rect">
            <a:avLst/>
          </a:prstGeom>
        </p:spPr>
      </p:pic>
      <p:sp>
        <p:nvSpPr>
          <p:cNvPr id="14" name="Text 10"/>
          <p:cNvSpPr txBox="1"/>
          <p:nvPr/>
        </p:nvSpPr>
        <p:spPr>
          <a:xfrm>
            <a:off x="4693920" y="3246120"/>
            <a:ext cx="2773680" cy="685800"/>
          </a:xfrm>
          <a:prstGeom prst="rect">
            <a:avLst/>
          </a:prstGeom>
          <a:noFill/>
          <a:ln/>
        </p:spPr>
        <p:txBody>
          <a:bodyPr wrap="square" lIns="0" tIns="0" rIns="0" bIns="0" rtlCol="0" anchor="t"/>
          <a:lstStyle/>
          <a:p>
            <a:pPr indent="0" marL="0">
              <a:buNone/>
            </a:pPr>
            <a:r>
              <a:rPr lang="en-US" sz="1500" b="1" dirty="0">
                <a:solidFill>
                  <a:srgbClr val="0B3556"/>
                </a:solidFill>
                <a:latin typeface="Cambria" pitchFamily="34" charset="0"/>
                <a:ea typeface="Cambria" pitchFamily="34" charset="-122"/>
                <a:cs typeface="Cambria" pitchFamily="34" charset="-120"/>
              </a:rPr>
              <a:t>Ho pubblicato il sito online</a:t>
            </a:r>
            <a:endParaRPr lang="en-US" sz="1500" dirty="0"/>
          </a:p>
        </p:txBody>
      </p:sp>
      <p:sp>
        <p:nvSpPr>
          <p:cNvPr id="15" name="Text 11"/>
          <p:cNvSpPr txBox="1"/>
          <p:nvPr/>
        </p:nvSpPr>
        <p:spPr>
          <a:xfrm>
            <a:off x="4693920" y="3977640"/>
            <a:ext cx="2773680" cy="1920240"/>
          </a:xfrm>
          <a:prstGeom prst="rect">
            <a:avLst/>
          </a:prstGeom>
          <a:noFill/>
          <a:ln/>
        </p:spPr>
        <p:txBody>
          <a:bodyPr wrap="square" lIns="0" tIns="0" rIns="0" bIns="0" rtlCol="0" anchor="t"/>
          <a:lstStyle/>
          <a:p>
            <a:pPr indent="0" marL="0">
              <a:lnSpc>
                <a:spcPct val="118000"/>
              </a:lnSpc>
              <a:buNone/>
            </a:pPr>
            <a:r>
              <a:rPr lang="en-US" sz="1100" dirty="0">
                <a:solidFill>
                  <a:srgbClr val="55677A"/>
                </a:solidFill>
                <a:latin typeface="Calibri" pitchFamily="34" charset="0"/>
                <a:ea typeface="Calibri" pitchFamily="34" charset="-122"/>
                <a:cs typeface="Calibri" pitchFamily="34" charset="-120"/>
              </a:rPr>
              <a:t>Codice caricato su GitHub e collegato a Vercel: da quel momento ogni aggiornamento inviato viene pubblicato in automatico, senza un server da tenere acceso a mano.</a:t>
            </a:r>
            <a:endParaRPr lang="en-US" sz="1100" dirty="0"/>
          </a:p>
        </p:txBody>
      </p:sp>
      <p:sp>
        <p:nvSpPr>
          <p:cNvPr id="16" name="Shape 12"/>
          <p:cNvSpPr/>
          <p:nvPr/>
        </p:nvSpPr>
        <p:spPr>
          <a:xfrm>
            <a:off x="8016240" y="2194560"/>
            <a:ext cx="3322320" cy="3977640"/>
          </a:xfrm>
          <a:prstGeom prst="roundRect">
            <a:avLst>
              <a:gd name="adj" fmla="val 3303"/>
            </a:avLst>
          </a:prstGeom>
          <a:solidFill>
            <a:srgbClr val="FFFFFF"/>
          </a:solidFill>
          <a:ln/>
          <a:effectLst>
            <a:outerShdw sx="100000" sy="100000" kx="0" ky="0" algn="bl" rotWithShape="0" blurRad="76200" dist="25400" dir="5400000">
              <a:srgbClr val="0B3556">
                <a:alpha val="10000"/>
              </a:srgbClr>
            </a:outerShdw>
          </a:effectLst>
        </p:spPr>
      </p:sp>
      <p:sp>
        <p:nvSpPr>
          <p:cNvPr id="17" name="Shape 13"/>
          <p:cNvSpPr/>
          <p:nvPr/>
        </p:nvSpPr>
        <p:spPr>
          <a:xfrm>
            <a:off x="8290560" y="2468880"/>
            <a:ext cx="548640" cy="548640"/>
          </a:xfrm>
          <a:prstGeom prst="ellipse">
            <a:avLst/>
          </a:prstGeom>
          <a:solidFill>
            <a:srgbClr val="0B3556"/>
          </a:solidFill>
          <a:ln/>
        </p:spPr>
      </p:sp>
      <p:pic>
        <p:nvPicPr>
          <p:cNvPr id="18" name="Image 2" descr="preencoded.png">    </p:cNvPr>
          <p:cNvPicPr>
            <a:picLocks noChangeAspect="1"/>
          </p:cNvPicPr>
          <p:nvPr/>
        </p:nvPicPr>
        <p:blipFill>
          <a:blip r:embed="rId3"/>
          <a:stretch>
            <a:fillRect/>
          </a:stretch>
        </p:blipFill>
        <p:spPr>
          <a:xfrm>
            <a:off x="8433206" y="2611526"/>
            <a:ext cx="263347" cy="263347"/>
          </a:xfrm>
          <a:prstGeom prst="rect">
            <a:avLst/>
          </a:prstGeom>
        </p:spPr>
      </p:pic>
      <p:sp>
        <p:nvSpPr>
          <p:cNvPr id="19" name="Text 14"/>
          <p:cNvSpPr txBox="1"/>
          <p:nvPr/>
        </p:nvSpPr>
        <p:spPr>
          <a:xfrm>
            <a:off x="8290560" y="3246120"/>
            <a:ext cx="2773680" cy="685800"/>
          </a:xfrm>
          <a:prstGeom prst="rect">
            <a:avLst/>
          </a:prstGeom>
          <a:noFill/>
          <a:ln/>
        </p:spPr>
        <p:txBody>
          <a:bodyPr wrap="square" lIns="0" tIns="0" rIns="0" bIns="0" rtlCol="0" anchor="t"/>
          <a:lstStyle/>
          <a:p>
            <a:pPr indent="0" marL="0">
              <a:buNone/>
            </a:pPr>
            <a:r>
              <a:rPr lang="en-US" sz="1500" b="1" dirty="0">
                <a:solidFill>
                  <a:srgbClr val="0B3556"/>
                </a:solidFill>
                <a:latin typeface="Cambria" pitchFamily="34" charset="0"/>
                <a:ea typeface="Cambria" pitchFamily="34" charset="-122"/>
                <a:cs typeface="Cambria" pitchFamily="34" charset="-120"/>
              </a:rPr>
              <a:t>Ho attivato l’invio di email vere</a:t>
            </a:r>
            <a:endParaRPr lang="en-US" sz="1500" dirty="0"/>
          </a:p>
        </p:txBody>
      </p:sp>
      <p:sp>
        <p:nvSpPr>
          <p:cNvPr id="20" name="Text 15"/>
          <p:cNvSpPr txBox="1"/>
          <p:nvPr/>
        </p:nvSpPr>
        <p:spPr>
          <a:xfrm>
            <a:off x="8290560" y="3977640"/>
            <a:ext cx="2773680" cy="1920240"/>
          </a:xfrm>
          <a:prstGeom prst="rect">
            <a:avLst/>
          </a:prstGeom>
          <a:noFill/>
          <a:ln/>
        </p:spPr>
        <p:txBody>
          <a:bodyPr wrap="square" lIns="0" tIns="0" rIns="0" bIns="0" rtlCol="0" anchor="t"/>
          <a:lstStyle/>
          <a:p>
            <a:pPr indent="0" marL="0">
              <a:lnSpc>
                <a:spcPct val="118000"/>
              </a:lnSpc>
              <a:buNone/>
            </a:pPr>
            <a:r>
              <a:rPr lang="en-US" sz="1100" dirty="0">
                <a:solidFill>
                  <a:srgbClr val="55677A"/>
                </a:solidFill>
                <a:latin typeface="Calibri" pitchFamily="34" charset="0"/>
                <a:ea typeface="Calibri" pitchFamily="34" charset="-122"/>
                <a:cs typeface="Calibri" pitchFamily="34" charset="-120"/>
              </a:rPr>
              <a:t>Primo tentativo con Resend, che senza un dominio verificato scriveva solo all’indirizzo di prova; passato poi a nodemailer con una casella Gmail dedicata.</a:t>
            </a:r>
            <a:endParaRPr lang="en-US" sz="1100" dirty="0"/>
          </a:p>
        </p:txBody>
      </p:sp>
      <p:sp>
        <p:nvSpPr>
          <p:cNvPr id="21"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5677A"/>
                </a:solidFill>
                <a:latin typeface="Calibri" pitchFamily="34" charset="0"/>
                <a:ea typeface="Calibri" pitchFamily="34" charset="-122"/>
                <a:cs typeface="Calibri" pitchFamily="34" charset="-120"/>
              </a:rPr>
              <a:t>STAGE  ·  GESTIONE CERTIFICATI MEDICI</a:t>
            </a:r>
            <a:endParaRPr lang="en-US" sz="900" dirty="0"/>
          </a:p>
        </p:txBody>
      </p:sp>
      <p:sp>
        <p:nvSpPr>
          <p:cNvPr id="22" name="Text 17"/>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900" dirty="0">
                <a:solidFill>
                  <a:srgbClr val="5567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822960" y="502920"/>
            <a:ext cx="6163056" cy="329184"/>
          </a:xfrm>
          <a:prstGeom prst="roundRect">
            <a:avLst>
              <a:gd name="adj" fmla="val 50000"/>
            </a:avLst>
          </a:prstGeom>
          <a:solidFill>
            <a:srgbClr val="E2892F"/>
          </a:solidFill>
          <a:ln/>
        </p:spPr>
      </p:sp>
      <p:sp>
        <p:nvSpPr>
          <p:cNvPr id="3" name="Text 1"/>
          <p:cNvSpPr txBox="1"/>
          <p:nvPr/>
        </p:nvSpPr>
        <p:spPr>
          <a:xfrm>
            <a:off x="822960" y="502920"/>
            <a:ext cx="6163056"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FASE 2 · 14 – 21 SETTEMBRE</a:t>
            </a:r>
            <a:endParaRPr lang="en-US" sz="1100" dirty="0"/>
          </a:p>
        </p:txBody>
      </p:sp>
      <p:sp>
        <p:nvSpPr>
          <p:cNvPr id="4" name="Text 2"/>
          <p:cNvSpPr txBox="1"/>
          <p:nvPr/>
        </p:nvSpPr>
        <p:spPr>
          <a:xfrm>
            <a:off x="822960" y="914400"/>
            <a:ext cx="10515600" cy="594360"/>
          </a:xfrm>
          <a:prstGeom prst="rect">
            <a:avLst/>
          </a:prstGeom>
          <a:noFill/>
          <a:ln/>
        </p:spPr>
        <p:txBody>
          <a:bodyPr wrap="square" lIns="0" tIns="0" rIns="0" bIns="0" rtlCol="0" anchor="ctr"/>
          <a:lstStyle/>
          <a:p>
            <a:pPr indent="0" marL="0">
              <a:buNone/>
            </a:pPr>
            <a:r>
              <a:rPr lang="en-US" sz="2800" b="1" dirty="0">
                <a:solidFill>
                  <a:srgbClr val="0B3556"/>
                </a:solidFill>
                <a:latin typeface="Cambria" pitchFamily="34" charset="0"/>
                <a:ea typeface="Cambria" pitchFamily="34" charset="-122"/>
                <a:cs typeface="Cambria" pitchFamily="34" charset="-120"/>
              </a:rPr>
              <a:t>Rifiniture, sicurezza e collaudo finale</a:t>
            </a:r>
            <a:endParaRPr lang="en-US" sz="2800" dirty="0"/>
          </a:p>
        </p:txBody>
      </p:sp>
      <p:sp>
        <p:nvSpPr>
          <p:cNvPr id="5" name="Text 3"/>
          <p:cNvSpPr txBox="1"/>
          <p:nvPr/>
        </p:nvSpPr>
        <p:spPr>
          <a:xfrm>
            <a:off x="822960" y="1481328"/>
            <a:ext cx="10515600" cy="548640"/>
          </a:xfrm>
          <a:prstGeom prst="rect">
            <a:avLst/>
          </a:prstGeom>
          <a:noFill/>
          <a:ln/>
        </p:spPr>
        <p:txBody>
          <a:bodyPr wrap="square" lIns="0" tIns="0" rIns="0" bIns="0" rtlCol="0" anchor="ctr"/>
          <a:lstStyle/>
          <a:p>
            <a:pPr indent="0" marL="0">
              <a:lnSpc>
                <a:spcPct val="115000"/>
              </a:lnSpc>
              <a:buNone/>
            </a:pPr>
            <a:r>
              <a:rPr lang="en-US" sz="1250" dirty="0">
                <a:solidFill>
                  <a:srgbClr val="55677A"/>
                </a:solidFill>
                <a:latin typeface="Calibri" pitchFamily="34" charset="0"/>
                <a:ea typeface="Calibri" pitchFamily="34" charset="-122"/>
                <a:cs typeface="Calibri" pitchFamily="34" charset="-120"/>
              </a:rPr>
              <a:t>Con il sito ormai online, il lavoro si è concentrato su dettagli importanti e sul collaudo finale prima della consegna.</a:t>
            </a:r>
            <a:endParaRPr lang="en-US" sz="1250" dirty="0"/>
          </a:p>
        </p:txBody>
      </p:sp>
      <p:sp>
        <p:nvSpPr>
          <p:cNvPr id="6" name="Shape 4"/>
          <p:cNvSpPr/>
          <p:nvPr/>
        </p:nvSpPr>
        <p:spPr>
          <a:xfrm>
            <a:off x="822960" y="2194560"/>
            <a:ext cx="5074920" cy="1920240"/>
          </a:xfrm>
          <a:prstGeom prst="roundRect">
            <a:avLst>
              <a:gd name="adj" fmla="val 5714"/>
            </a:avLst>
          </a:prstGeom>
          <a:solidFill>
            <a:srgbClr val="FFFFFF"/>
          </a:solidFill>
          <a:ln/>
          <a:effectLst>
            <a:outerShdw sx="100000" sy="100000" kx="0" ky="0" algn="bl" rotWithShape="0" blurRad="76200" dist="25400" dir="5400000">
              <a:srgbClr val="0B3556">
                <a:alpha val="10000"/>
              </a:srgbClr>
            </a:outerShdw>
          </a:effectLst>
        </p:spPr>
      </p:sp>
      <p:sp>
        <p:nvSpPr>
          <p:cNvPr id="7" name="Shape 5"/>
          <p:cNvSpPr/>
          <p:nvPr/>
        </p:nvSpPr>
        <p:spPr>
          <a:xfrm>
            <a:off x="1078992" y="2414016"/>
            <a:ext cx="512064" cy="512064"/>
          </a:xfrm>
          <a:prstGeom prst="ellipse">
            <a:avLst/>
          </a:prstGeom>
          <a:solidFill>
            <a:srgbClr val="0B3556"/>
          </a:solidFill>
          <a:ln/>
        </p:spPr>
      </p:sp>
      <p:pic>
        <p:nvPicPr>
          <p:cNvPr id="8" name="Image 0" descr="preencoded.png">    </p:cNvPr>
          <p:cNvPicPr>
            <a:picLocks noChangeAspect="1"/>
          </p:cNvPicPr>
          <p:nvPr/>
        </p:nvPicPr>
        <p:blipFill>
          <a:blip r:embed="rId1"/>
          <a:stretch>
            <a:fillRect/>
          </a:stretch>
        </p:blipFill>
        <p:spPr>
          <a:xfrm>
            <a:off x="1212129" y="2547153"/>
            <a:ext cx="245791" cy="245791"/>
          </a:xfrm>
          <a:prstGeom prst="rect">
            <a:avLst/>
          </a:prstGeom>
        </p:spPr>
      </p:pic>
      <p:sp>
        <p:nvSpPr>
          <p:cNvPr id="9" name="Text 6"/>
          <p:cNvSpPr txBox="1"/>
          <p:nvPr/>
        </p:nvSpPr>
        <p:spPr>
          <a:xfrm>
            <a:off x="1792224" y="2359152"/>
            <a:ext cx="3904488" cy="603504"/>
          </a:xfrm>
          <a:prstGeom prst="rect">
            <a:avLst/>
          </a:prstGeom>
          <a:noFill/>
          <a:ln/>
        </p:spPr>
        <p:txBody>
          <a:bodyPr wrap="square" lIns="0" tIns="0" rIns="0" bIns="0" rtlCol="0" anchor="t"/>
          <a:lstStyle/>
          <a:p>
            <a:pPr indent="0" marL="0">
              <a:buNone/>
            </a:pPr>
            <a:r>
              <a:rPr lang="en-US" sz="1350" b="1" dirty="0">
                <a:solidFill>
                  <a:srgbClr val="0B3556"/>
                </a:solidFill>
                <a:latin typeface="Cambria" pitchFamily="34" charset="0"/>
                <a:ea typeface="Cambria" pitchFamily="34" charset="-122"/>
                <a:cs typeface="Cambria" pitchFamily="34" charset="-120"/>
              </a:rPr>
              <a:t>Ho separato i ruoli e protetto l’identità</a:t>
            </a:r>
            <a:endParaRPr lang="en-US" sz="1350" dirty="0"/>
          </a:p>
        </p:txBody>
      </p:sp>
      <p:sp>
        <p:nvSpPr>
          <p:cNvPr id="10" name="Text 7"/>
          <p:cNvSpPr txBox="1"/>
          <p:nvPr/>
        </p:nvSpPr>
        <p:spPr>
          <a:xfrm>
            <a:off x="1060704" y="3035808"/>
            <a:ext cx="4599432" cy="914400"/>
          </a:xfrm>
          <a:prstGeom prst="rect">
            <a:avLst/>
          </a:prstGeom>
          <a:noFill/>
          <a:ln/>
        </p:spPr>
        <p:txBody>
          <a:bodyPr wrap="square" lIns="0" tIns="0" rIns="0" bIns="0" rtlCol="0" anchor="t"/>
          <a:lstStyle/>
          <a:p>
            <a:pPr indent="0" marL="0">
              <a:lnSpc>
                <a:spcPct val="114000"/>
              </a:lnSpc>
              <a:buNone/>
            </a:pPr>
            <a:r>
              <a:rPr lang="en-US" sz="1000" dirty="0">
                <a:solidFill>
                  <a:srgbClr val="55677A"/>
                </a:solidFill>
                <a:latin typeface="Calibri" pitchFamily="34" charset="0"/>
                <a:ea typeface="Calibri" pitchFamily="34" charset="-122"/>
                <a:cs typeface="Calibri" pitchFamily="34" charset="-120"/>
              </a:rPr>
              <a:t>Un giocatore vede solo le proprie squadre e non può caricare un certificato a nome di qualcun altro: controllo anche lato server, non solo sul sito.</a:t>
            </a:r>
            <a:endParaRPr lang="en-US" sz="1000" dirty="0"/>
          </a:p>
        </p:txBody>
      </p:sp>
      <p:sp>
        <p:nvSpPr>
          <p:cNvPr id="11" name="Shape 8"/>
          <p:cNvSpPr/>
          <p:nvPr/>
        </p:nvSpPr>
        <p:spPr>
          <a:xfrm>
            <a:off x="6263640" y="2194560"/>
            <a:ext cx="5074920" cy="1920240"/>
          </a:xfrm>
          <a:prstGeom prst="roundRect">
            <a:avLst>
              <a:gd name="adj" fmla="val 5714"/>
            </a:avLst>
          </a:prstGeom>
          <a:solidFill>
            <a:srgbClr val="FFFFFF"/>
          </a:solidFill>
          <a:ln/>
          <a:effectLst>
            <a:outerShdw sx="100000" sy="100000" kx="0" ky="0" algn="bl" rotWithShape="0" blurRad="76200" dist="25400" dir="5400000">
              <a:srgbClr val="0B3556">
                <a:alpha val="10000"/>
              </a:srgbClr>
            </a:outerShdw>
          </a:effectLst>
        </p:spPr>
      </p:sp>
      <p:sp>
        <p:nvSpPr>
          <p:cNvPr id="12" name="Shape 9"/>
          <p:cNvSpPr/>
          <p:nvPr/>
        </p:nvSpPr>
        <p:spPr>
          <a:xfrm>
            <a:off x="6519672" y="2414016"/>
            <a:ext cx="512064" cy="512064"/>
          </a:xfrm>
          <a:prstGeom prst="ellipse">
            <a:avLst/>
          </a:prstGeom>
          <a:solidFill>
            <a:srgbClr val="0B3556"/>
          </a:solidFill>
          <a:ln/>
        </p:spPr>
      </p:sp>
      <p:pic>
        <p:nvPicPr>
          <p:cNvPr id="13" name="Image 1" descr="preencoded.png">    </p:cNvPr>
          <p:cNvPicPr>
            <a:picLocks noChangeAspect="1"/>
          </p:cNvPicPr>
          <p:nvPr/>
        </p:nvPicPr>
        <p:blipFill>
          <a:blip r:embed="rId2"/>
          <a:stretch>
            <a:fillRect/>
          </a:stretch>
        </p:blipFill>
        <p:spPr>
          <a:xfrm>
            <a:off x="6652809" y="2547153"/>
            <a:ext cx="245791" cy="245791"/>
          </a:xfrm>
          <a:prstGeom prst="rect">
            <a:avLst/>
          </a:prstGeom>
        </p:spPr>
      </p:pic>
      <p:sp>
        <p:nvSpPr>
          <p:cNvPr id="14" name="Text 10"/>
          <p:cNvSpPr txBox="1"/>
          <p:nvPr/>
        </p:nvSpPr>
        <p:spPr>
          <a:xfrm>
            <a:off x="7232904" y="2359152"/>
            <a:ext cx="3904488" cy="603504"/>
          </a:xfrm>
          <a:prstGeom prst="rect">
            <a:avLst/>
          </a:prstGeom>
          <a:noFill/>
          <a:ln/>
        </p:spPr>
        <p:txBody>
          <a:bodyPr wrap="square" lIns="0" tIns="0" rIns="0" bIns="0" rtlCol="0" anchor="t"/>
          <a:lstStyle/>
          <a:p>
            <a:pPr indent="0" marL="0">
              <a:buNone/>
            </a:pPr>
            <a:r>
              <a:rPr lang="en-US" sz="1350" b="1" dirty="0">
                <a:solidFill>
                  <a:srgbClr val="0B3556"/>
                </a:solidFill>
                <a:latin typeface="Cambria" pitchFamily="34" charset="0"/>
                <a:ea typeface="Cambria" pitchFamily="34" charset="-122"/>
                <a:cs typeface="Cambria" pitchFamily="34" charset="-120"/>
              </a:rPr>
              <a:t>Ho reso possibile correggere gli errori</a:t>
            </a:r>
            <a:endParaRPr lang="en-US" sz="1350" dirty="0"/>
          </a:p>
        </p:txBody>
      </p:sp>
      <p:sp>
        <p:nvSpPr>
          <p:cNvPr id="15" name="Text 11"/>
          <p:cNvSpPr txBox="1"/>
          <p:nvPr/>
        </p:nvSpPr>
        <p:spPr>
          <a:xfrm>
            <a:off x="6501384" y="3035808"/>
            <a:ext cx="4599432" cy="914400"/>
          </a:xfrm>
          <a:prstGeom prst="rect">
            <a:avLst/>
          </a:prstGeom>
          <a:noFill/>
          <a:ln/>
        </p:spPr>
        <p:txBody>
          <a:bodyPr wrap="square" lIns="0" tIns="0" rIns="0" bIns="0" rtlCol="0" anchor="t"/>
          <a:lstStyle/>
          <a:p>
            <a:pPr indent="0" marL="0">
              <a:lnSpc>
                <a:spcPct val="114000"/>
              </a:lnSpc>
              <a:buNone/>
            </a:pPr>
            <a:r>
              <a:rPr lang="en-US" sz="1000" dirty="0">
                <a:solidFill>
                  <a:srgbClr val="55677A"/>
                </a:solidFill>
                <a:latin typeface="Calibri" pitchFamily="34" charset="0"/>
                <a:ea typeface="Calibri" pitchFamily="34" charset="-122"/>
                <a:cs typeface="Calibri" pitchFamily="34" charset="-120"/>
              </a:rPr>
              <a:t>L’Admin può scartare anche un certificato già approvato per sbaglio, avvisando il giocatore via email.</a:t>
            </a:r>
            <a:endParaRPr lang="en-US" sz="1000" dirty="0"/>
          </a:p>
        </p:txBody>
      </p:sp>
      <p:sp>
        <p:nvSpPr>
          <p:cNvPr id="16" name="Shape 12"/>
          <p:cNvSpPr/>
          <p:nvPr/>
        </p:nvSpPr>
        <p:spPr>
          <a:xfrm>
            <a:off x="822960" y="4251960"/>
            <a:ext cx="5074920" cy="1920240"/>
          </a:xfrm>
          <a:prstGeom prst="roundRect">
            <a:avLst>
              <a:gd name="adj" fmla="val 5714"/>
            </a:avLst>
          </a:prstGeom>
          <a:solidFill>
            <a:srgbClr val="FFFFFF"/>
          </a:solidFill>
          <a:ln/>
          <a:effectLst>
            <a:outerShdw sx="100000" sy="100000" kx="0" ky="0" algn="bl" rotWithShape="0" blurRad="76200" dist="25400" dir="5400000">
              <a:srgbClr val="0B3556">
                <a:alpha val="10000"/>
              </a:srgbClr>
            </a:outerShdw>
          </a:effectLst>
        </p:spPr>
      </p:sp>
      <p:sp>
        <p:nvSpPr>
          <p:cNvPr id="17" name="Shape 13"/>
          <p:cNvSpPr/>
          <p:nvPr/>
        </p:nvSpPr>
        <p:spPr>
          <a:xfrm>
            <a:off x="1078992" y="4471416"/>
            <a:ext cx="512064" cy="512064"/>
          </a:xfrm>
          <a:prstGeom prst="ellipse">
            <a:avLst/>
          </a:prstGeom>
          <a:solidFill>
            <a:srgbClr val="0B3556"/>
          </a:solidFill>
          <a:ln/>
        </p:spPr>
      </p:sp>
      <p:pic>
        <p:nvPicPr>
          <p:cNvPr id="18" name="Image 2" descr="preencoded.png">    </p:cNvPr>
          <p:cNvPicPr>
            <a:picLocks noChangeAspect="1"/>
          </p:cNvPicPr>
          <p:nvPr/>
        </p:nvPicPr>
        <p:blipFill>
          <a:blip r:embed="rId3"/>
          <a:stretch>
            <a:fillRect/>
          </a:stretch>
        </p:blipFill>
        <p:spPr>
          <a:xfrm>
            <a:off x="1212129" y="4604553"/>
            <a:ext cx="245791" cy="245791"/>
          </a:xfrm>
          <a:prstGeom prst="rect">
            <a:avLst/>
          </a:prstGeom>
        </p:spPr>
      </p:pic>
      <p:sp>
        <p:nvSpPr>
          <p:cNvPr id="19" name="Text 14"/>
          <p:cNvSpPr txBox="1"/>
          <p:nvPr/>
        </p:nvSpPr>
        <p:spPr>
          <a:xfrm>
            <a:off x="1792224" y="4416552"/>
            <a:ext cx="3904488" cy="603504"/>
          </a:xfrm>
          <a:prstGeom prst="rect">
            <a:avLst/>
          </a:prstGeom>
          <a:noFill/>
          <a:ln/>
        </p:spPr>
        <p:txBody>
          <a:bodyPr wrap="square" lIns="0" tIns="0" rIns="0" bIns="0" rtlCol="0" anchor="t"/>
          <a:lstStyle/>
          <a:p>
            <a:pPr indent="0" marL="0">
              <a:buNone/>
            </a:pPr>
            <a:r>
              <a:rPr lang="en-US" sz="1350" b="1" dirty="0">
                <a:solidFill>
                  <a:srgbClr val="0B3556"/>
                </a:solidFill>
                <a:latin typeface="Cambria" pitchFamily="34" charset="0"/>
                <a:ea typeface="Cambria" pitchFamily="34" charset="-122"/>
                <a:cs typeface="Cambria" pitchFamily="34" charset="-120"/>
              </a:rPr>
              <a:t>Ho aggiunto la pagina Impostazioni</a:t>
            </a:r>
            <a:endParaRPr lang="en-US" sz="1350" dirty="0"/>
          </a:p>
        </p:txBody>
      </p:sp>
      <p:sp>
        <p:nvSpPr>
          <p:cNvPr id="20" name="Text 15"/>
          <p:cNvSpPr txBox="1"/>
          <p:nvPr/>
        </p:nvSpPr>
        <p:spPr>
          <a:xfrm>
            <a:off x="1060704" y="5093208"/>
            <a:ext cx="4599432" cy="914400"/>
          </a:xfrm>
          <a:prstGeom prst="rect">
            <a:avLst/>
          </a:prstGeom>
          <a:noFill/>
          <a:ln/>
        </p:spPr>
        <p:txBody>
          <a:bodyPr wrap="square" lIns="0" tIns="0" rIns="0" bIns="0" rtlCol="0" anchor="t"/>
          <a:lstStyle/>
          <a:p>
            <a:pPr indent="0" marL="0">
              <a:lnSpc>
                <a:spcPct val="114000"/>
              </a:lnSpc>
              <a:buNone/>
            </a:pPr>
            <a:r>
              <a:rPr lang="en-US" sz="1000" dirty="0">
                <a:solidFill>
                  <a:srgbClr val="55677A"/>
                </a:solidFill>
                <a:latin typeface="Calibri" pitchFamily="34" charset="0"/>
                <a:ea typeface="Calibri" pitchFamily="34" charset="-122"/>
                <a:cs typeface="Calibri" pitchFamily="34" charset="-120"/>
              </a:rPr>
              <a:t>Nuova pagina Account/Password/Aspetto; l’email di accesso ora parte solo quando l’Admin clicca "Manda accesso".</a:t>
            </a:r>
            <a:endParaRPr lang="en-US" sz="1000" dirty="0"/>
          </a:p>
        </p:txBody>
      </p:sp>
      <p:sp>
        <p:nvSpPr>
          <p:cNvPr id="21" name="Shape 16"/>
          <p:cNvSpPr/>
          <p:nvPr/>
        </p:nvSpPr>
        <p:spPr>
          <a:xfrm>
            <a:off x="6263640" y="4251960"/>
            <a:ext cx="5074920" cy="1920240"/>
          </a:xfrm>
          <a:prstGeom prst="roundRect">
            <a:avLst>
              <a:gd name="adj" fmla="val 5714"/>
            </a:avLst>
          </a:prstGeom>
          <a:solidFill>
            <a:srgbClr val="FFFFFF"/>
          </a:solidFill>
          <a:ln/>
          <a:effectLst>
            <a:outerShdw sx="100000" sy="100000" kx="0" ky="0" algn="bl" rotWithShape="0" blurRad="76200" dist="25400" dir="5400000">
              <a:srgbClr val="0B3556">
                <a:alpha val="10000"/>
              </a:srgbClr>
            </a:outerShdw>
          </a:effectLst>
        </p:spPr>
      </p:sp>
      <p:sp>
        <p:nvSpPr>
          <p:cNvPr id="22" name="Shape 17"/>
          <p:cNvSpPr/>
          <p:nvPr/>
        </p:nvSpPr>
        <p:spPr>
          <a:xfrm>
            <a:off x="6519672" y="4471416"/>
            <a:ext cx="512064" cy="512064"/>
          </a:xfrm>
          <a:prstGeom prst="ellipse">
            <a:avLst/>
          </a:prstGeom>
          <a:solidFill>
            <a:srgbClr val="0B3556"/>
          </a:solidFill>
          <a:ln/>
        </p:spPr>
      </p:sp>
      <p:pic>
        <p:nvPicPr>
          <p:cNvPr id="23" name="Image 3" descr="preencoded.png">    </p:cNvPr>
          <p:cNvPicPr>
            <a:picLocks noChangeAspect="1"/>
          </p:cNvPicPr>
          <p:nvPr/>
        </p:nvPicPr>
        <p:blipFill>
          <a:blip r:embed="rId4"/>
          <a:stretch>
            <a:fillRect/>
          </a:stretch>
        </p:blipFill>
        <p:spPr>
          <a:xfrm>
            <a:off x="6652809" y="4604553"/>
            <a:ext cx="245791" cy="245791"/>
          </a:xfrm>
          <a:prstGeom prst="rect">
            <a:avLst/>
          </a:prstGeom>
        </p:spPr>
      </p:pic>
      <p:sp>
        <p:nvSpPr>
          <p:cNvPr id="24" name="Text 18"/>
          <p:cNvSpPr txBox="1"/>
          <p:nvPr/>
        </p:nvSpPr>
        <p:spPr>
          <a:xfrm>
            <a:off x="7232904" y="4416552"/>
            <a:ext cx="3904488" cy="603504"/>
          </a:xfrm>
          <a:prstGeom prst="rect">
            <a:avLst/>
          </a:prstGeom>
          <a:noFill/>
          <a:ln/>
        </p:spPr>
        <p:txBody>
          <a:bodyPr wrap="square" lIns="0" tIns="0" rIns="0" bIns="0" rtlCol="0" anchor="t"/>
          <a:lstStyle/>
          <a:p>
            <a:pPr indent="0" marL="0">
              <a:buNone/>
            </a:pPr>
            <a:r>
              <a:rPr lang="en-US" sz="1350" b="1" dirty="0">
                <a:solidFill>
                  <a:srgbClr val="0B3556"/>
                </a:solidFill>
                <a:latin typeface="Cambria" pitchFamily="34" charset="0"/>
                <a:ea typeface="Cambria" pitchFamily="34" charset="-122"/>
                <a:cs typeface="Cambria" pitchFamily="34" charset="-120"/>
              </a:rPr>
              <a:t>Ho testato tutto e corretto gli ultimi problemi</a:t>
            </a:r>
            <a:endParaRPr lang="en-US" sz="1350" dirty="0"/>
          </a:p>
        </p:txBody>
      </p:sp>
      <p:sp>
        <p:nvSpPr>
          <p:cNvPr id="25" name="Text 19"/>
          <p:cNvSpPr txBox="1"/>
          <p:nvPr/>
        </p:nvSpPr>
        <p:spPr>
          <a:xfrm>
            <a:off x="6501384" y="5093208"/>
            <a:ext cx="4599432" cy="914400"/>
          </a:xfrm>
          <a:prstGeom prst="rect">
            <a:avLst/>
          </a:prstGeom>
          <a:noFill/>
          <a:ln/>
        </p:spPr>
        <p:txBody>
          <a:bodyPr wrap="square" lIns="0" tIns="0" rIns="0" bIns="0" rtlCol="0" anchor="t"/>
          <a:lstStyle/>
          <a:p>
            <a:pPr indent="0" marL="0">
              <a:lnSpc>
                <a:spcPct val="114000"/>
              </a:lnSpc>
              <a:buNone/>
            </a:pPr>
            <a:r>
              <a:rPr lang="en-US" sz="1000" dirty="0">
                <a:solidFill>
                  <a:srgbClr val="55677A"/>
                </a:solidFill>
                <a:latin typeface="Calibri" pitchFamily="34" charset="0"/>
                <a:ea typeface="Calibri" pitchFamily="34" charset="-122"/>
                <a:cs typeface="Calibri" pitchFamily="34" charset="-120"/>
              </a:rPr>
              <a:t>Trovati e risolti due problemi visibili solo online (sessione persa al refresh, controllo scadenze fermo su Vercel, risolto con un Cron Job dedicato), poi un ultimo giro di verifica su ogni funzione prima del 21 settembre.</a:t>
            </a:r>
            <a:endParaRPr lang="en-US" sz="1000" dirty="0"/>
          </a:p>
        </p:txBody>
      </p:sp>
      <p:sp>
        <p:nvSpPr>
          <p:cNvPr id="26" name="Text 2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5677A"/>
                </a:solidFill>
                <a:latin typeface="Calibri" pitchFamily="34" charset="0"/>
                <a:ea typeface="Calibri" pitchFamily="34" charset="-122"/>
                <a:cs typeface="Calibri" pitchFamily="34" charset="-120"/>
              </a:rPr>
              <a:t>STAGE  ·  GESTIONE CERTIFICATI MEDICI</a:t>
            </a:r>
            <a:endParaRPr lang="en-US" sz="900" dirty="0"/>
          </a:p>
        </p:txBody>
      </p:sp>
      <p:sp>
        <p:nvSpPr>
          <p:cNvPr id="27" name="Text 21"/>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900" dirty="0">
                <a:solidFill>
                  <a:srgbClr val="5567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556"/>
        </a:solidFill>
      </p:bgPr>
    </p:bg>
    <p:spTree>
      <p:nvGrpSpPr>
        <p:cNvPr id="1" name=""/>
        <p:cNvGrpSpPr/>
        <p:nvPr/>
      </p:nvGrpSpPr>
      <p:grpSpPr>
        <a:xfrm>
          <a:off x="0" y="0"/>
          <a:ext cx="0" cy="0"/>
          <a:chOff x="0" y="0"/>
          <a:chExt cx="0" cy="0"/>
        </a:xfrm>
      </p:grpSpPr>
      <p:sp>
        <p:nvSpPr>
          <p:cNvPr id="2" name="Shape 0"/>
          <p:cNvSpPr/>
          <p:nvPr/>
        </p:nvSpPr>
        <p:spPr>
          <a:xfrm>
            <a:off x="822960" y="548640"/>
            <a:ext cx="777240" cy="777240"/>
          </a:xfrm>
          <a:prstGeom prst="ellipse">
            <a:avLst/>
          </a:prstGeom>
          <a:solidFill>
            <a:srgbClr val="E2892F"/>
          </a:solidFill>
          <a:ln/>
        </p:spPr>
      </p:sp>
      <p:pic>
        <p:nvPicPr>
          <p:cNvPr id="3" name="Image 0" descr="preencoded.png">    </p:cNvPr>
          <p:cNvPicPr>
            <a:picLocks noChangeAspect="1"/>
          </p:cNvPicPr>
          <p:nvPr/>
        </p:nvPicPr>
        <p:blipFill>
          <a:blip r:embed="rId1"/>
          <a:stretch>
            <a:fillRect/>
          </a:stretch>
        </p:blipFill>
        <p:spPr>
          <a:xfrm>
            <a:off x="1025042" y="750722"/>
            <a:ext cx="373075" cy="373075"/>
          </a:xfrm>
          <a:prstGeom prst="rect">
            <a:avLst/>
          </a:prstGeom>
        </p:spPr>
      </p:pic>
      <p:sp>
        <p:nvSpPr>
          <p:cNvPr id="4" name="Text 1"/>
          <p:cNvSpPr txBox="1"/>
          <p:nvPr/>
        </p:nvSpPr>
        <p:spPr>
          <a:xfrm>
            <a:off x="1737360" y="548640"/>
            <a:ext cx="9601200" cy="77724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Conclusione: il progetto è online</a:t>
            </a:r>
            <a:endParaRPr lang="en-US" sz="2700" dirty="0"/>
          </a:p>
        </p:txBody>
      </p:sp>
      <p:sp>
        <p:nvSpPr>
          <p:cNvPr id="5" name="Shape 2"/>
          <p:cNvSpPr/>
          <p:nvPr/>
        </p:nvSpPr>
        <p:spPr>
          <a:xfrm>
            <a:off x="822960" y="1691640"/>
            <a:ext cx="3383280" cy="1280160"/>
          </a:xfrm>
          <a:prstGeom prst="roundRect">
            <a:avLst>
              <a:gd name="adj" fmla="val 8571"/>
            </a:avLst>
          </a:prstGeom>
          <a:solidFill>
            <a:srgbClr val="072438"/>
          </a:solidFill>
          <a:ln/>
        </p:spPr>
      </p:sp>
      <p:sp>
        <p:nvSpPr>
          <p:cNvPr id="6" name="Text 3"/>
          <p:cNvSpPr txBox="1"/>
          <p:nvPr/>
        </p:nvSpPr>
        <p:spPr>
          <a:xfrm>
            <a:off x="1051560" y="1801368"/>
            <a:ext cx="2926080" cy="594360"/>
          </a:xfrm>
          <a:prstGeom prst="rect">
            <a:avLst/>
          </a:prstGeom>
          <a:noFill/>
          <a:ln/>
        </p:spPr>
        <p:txBody>
          <a:bodyPr wrap="square" lIns="0" tIns="0" rIns="0" bIns="0" rtlCol="0" anchor="ctr"/>
          <a:lstStyle/>
          <a:p>
            <a:pPr indent="0" marL="0">
              <a:buNone/>
            </a:pPr>
            <a:r>
              <a:rPr lang="en-US" sz="3400" b="1" dirty="0">
                <a:solidFill>
                  <a:srgbClr val="E2892F"/>
                </a:solidFill>
                <a:latin typeface="Cambria" pitchFamily="34" charset="0"/>
                <a:ea typeface="Cambria" pitchFamily="34" charset="-122"/>
                <a:cs typeface="Cambria" pitchFamily="34" charset="-120"/>
              </a:rPr>
              <a:t>21</a:t>
            </a:r>
            <a:endParaRPr lang="en-US" sz="3400" dirty="0"/>
          </a:p>
        </p:txBody>
      </p:sp>
      <p:sp>
        <p:nvSpPr>
          <p:cNvPr id="7" name="Text 4"/>
          <p:cNvSpPr txBox="1"/>
          <p:nvPr/>
        </p:nvSpPr>
        <p:spPr>
          <a:xfrm>
            <a:off x="1051560" y="2350008"/>
            <a:ext cx="2926080" cy="566928"/>
          </a:xfrm>
          <a:prstGeom prst="rect">
            <a:avLst/>
          </a:prstGeom>
          <a:noFill/>
          <a:ln/>
        </p:spPr>
        <p:txBody>
          <a:bodyPr wrap="square" lIns="0" tIns="0" rIns="0" bIns="0" rtlCol="0" anchor="ctr"/>
          <a:lstStyle/>
          <a:p>
            <a:pPr indent="0" marL="0">
              <a:lnSpc>
                <a:spcPct val="108000"/>
              </a:lnSpc>
              <a:buNone/>
            </a:pPr>
            <a:r>
              <a:rPr lang="en-US" sz="1000" dirty="0">
                <a:solidFill>
                  <a:srgbClr val="D9EAF0"/>
                </a:solidFill>
                <a:latin typeface="Calibri" pitchFamily="34" charset="0"/>
                <a:ea typeface="Calibri" pitchFamily="34" charset="-122"/>
                <a:cs typeface="Calibri" pitchFamily="34" charset="-120"/>
              </a:rPr>
              <a:t>giorni di stage, dalla progettazione alla consegna</a:t>
            </a:r>
            <a:endParaRPr lang="en-US" sz="1000" dirty="0"/>
          </a:p>
        </p:txBody>
      </p:sp>
      <p:sp>
        <p:nvSpPr>
          <p:cNvPr id="8" name="Shape 5"/>
          <p:cNvSpPr/>
          <p:nvPr/>
        </p:nvSpPr>
        <p:spPr>
          <a:xfrm>
            <a:off x="4434840" y="1691640"/>
            <a:ext cx="3383280" cy="1280160"/>
          </a:xfrm>
          <a:prstGeom prst="roundRect">
            <a:avLst>
              <a:gd name="adj" fmla="val 8571"/>
            </a:avLst>
          </a:prstGeom>
          <a:solidFill>
            <a:srgbClr val="072438"/>
          </a:solidFill>
          <a:ln/>
        </p:spPr>
      </p:sp>
      <p:sp>
        <p:nvSpPr>
          <p:cNvPr id="9" name="Text 6"/>
          <p:cNvSpPr txBox="1"/>
          <p:nvPr/>
        </p:nvSpPr>
        <p:spPr>
          <a:xfrm>
            <a:off x="4663440" y="1801368"/>
            <a:ext cx="2926080" cy="594360"/>
          </a:xfrm>
          <a:prstGeom prst="rect">
            <a:avLst/>
          </a:prstGeom>
          <a:noFill/>
          <a:ln/>
        </p:spPr>
        <p:txBody>
          <a:bodyPr wrap="square" lIns="0" tIns="0" rIns="0" bIns="0" rtlCol="0" anchor="ctr"/>
          <a:lstStyle/>
          <a:p>
            <a:pPr indent="0" marL="0">
              <a:buNone/>
            </a:pPr>
            <a:r>
              <a:rPr lang="en-US" sz="3400" b="1" dirty="0">
                <a:solidFill>
                  <a:srgbClr val="E2892F"/>
                </a:solidFill>
                <a:latin typeface="Cambria" pitchFamily="34" charset="0"/>
                <a:ea typeface="Cambria" pitchFamily="34" charset="-122"/>
                <a:cs typeface="Cambria" pitchFamily="34" charset="-120"/>
              </a:rPr>
              <a:t>8</a:t>
            </a:r>
            <a:endParaRPr lang="en-US" sz="3400" dirty="0"/>
          </a:p>
        </p:txBody>
      </p:sp>
      <p:sp>
        <p:nvSpPr>
          <p:cNvPr id="10" name="Text 7"/>
          <p:cNvSpPr txBox="1"/>
          <p:nvPr/>
        </p:nvSpPr>
        <p:spPr>
          <a:xfrm>
            <a:off x="4663440" y="2350008"/>
            <a:ext cx="2926080" cy="566928"/>
          </a:xfrm>
          <a:prstGeom prst="rect">
            <a:avLst/>
          </a:prstGeom>
          <a:noFill/>
          <a:ln/>
        </p:spPr>
        <p:txBody>
          <a:bodyPr wrap="square" lIns="0" tIns="0" rIns="0" bIns="0" rtlCol="0" anchor="ctr"/>
          <a:lstStyle/>
          <a:p>
            <a:pPr indent="0" marL="0">
              <a:lnSpc>
                <a:spcPct val="108000"/>
              </a:lnSpc>
              <a:buNone/>
            </a:pPr>
            <a:r>
              <a:rPr lang="en-US" sz="1000" dirty="0">
                <a:solidFill>
                  <a:srgbClr val="D9EAF0"/>
                </a:solidFill>
                <a:latin typeface="Calibri" pitchFamily="34" charset="0"/>
                <a:ea typeface="Calibri" pitchFamily="34" charset="-122"/>
                <a:cs typeface="Calibri" pitchFamily="34" charset="-120"/>
              </a:rPr>
              <a:t>tabelle nel database, tutte collegate tra loro</a:t>
            </a:r>
            <a:endParaRPr lang="en-US" sz="1000" dirty="0"/>
          </a:p>
        </p:txBody>
      </p:sp>
      <p:sp>
        <p:nvSpPr>
          <p:cNvPr id="11" name="Shape 8"/>
          <p:cNvSpPr/>
          <p:nvPr/>
        </p:nvSpPr>
        <p:spPr>
          <a:xfrm>
            <a:off x="8046720" y="1691640"/>
            <a:ext cx="3383280" cy="1280160"/>
          </a:xfrm>
          <a:prstGeom prst="roundRect">
            <a:avLst>
              <a:gd name="adj" fmla="val 8571"/>
            </a:avLst>
          </a:prstGeom>
          <a:solidFill>
            <a:srgbClr val="072438"/>
          </a:solidFill>
          <a:ln/>
        </p:spPr>
      </p:sp>
      <p:sp>
        <p:nvSpPr>
          <p:cNvPr id="12" name="Text 9"/>
          <p:cNvSpPr txBox="1"/>
          <p:nvPr/>
        </p:nvSpPr>
        <p:spPr>
          <a:xfrm>
            <a:off x="8275320" y="1801368"/>
            <a:ext cx="2926080" cy="594360"/>
          </a:xfrm>
          <a:prstGeom prst="rect">
            <a:avLst/>
          </a:prstGeom>
          <a:noFill/>
          <a:ln/>
        </p:spPr>
        <p:txBody>
          <a:bodyPr wrap="square" lIns="0" tIns="0" rIns="0" bIns="0" rtlCol="0" anchor="ctr"/>
          <a:lstStyle/>
          <a:p>
            <a:pPr indent="0" marL="0">
              <a:buNone/>
            </a:pPr>
            <a:r>
              <a:rPr lang="en-US" sz="3400" b="1" dirty="0">
                <a:solidFill>
                  <a:srgbClr val="E2892F"/>
                </a:solidFill>
                <a:latin typeface="Cambria" pitchFamily="34" charset="0"/>
                <a:ea typeface="Cambria" pitchFamily="34" charset="-122"/>
                <a:cs typeface="Cambria" pitchFamily="34" charset="-120"/>
              </a:rPr>
              <a:t>34</a:t>
            </a:r>
            <a:endParaRPr lang="en-US" sz="3400" dirty="0"/>
          </a:p>
        </p:txBody>
      </p:sp>
      <p:sp>
        <p:nvSpPr>
          <p:cNvPr id="13" name="Text 10"/>
          <p:cNvSpPr txBox="1"/>
          <p:nvPr/>
        </p:nvSpPr>
        <p:spPr>
          <a:xfrm>
            <a:off x="8275320" y="2350008"/>
            <a:ext cx="2926080" cy="566928"/>
          </a:xfrm>
          <a:prstGeom prst="rect">
            <a:avLst/>
          </a:prstGeom>
          <a:noFill/>
          <a:ln/>
        </p:spPr>
        <p:txBody>
          <a:bodyPr wrap="square" lIns="0" tIns="0" rIns="0" bIns="0" rtlCol="0" anchor="ctr"/>
          <a:lstStyle/>
          <a:p>
            <a:pPr indent="0" marL="0">
              <a:lnSpc>
                <a:spcPct val="108000"/>
              </a:lnSpc>
              <a:buNone/>
            </a:pPr>
            <a:r>
              <a:rPr lang="en-US" sz="1000" dirty="0">
                <a:solidFill>
                  <a:srgbClr val="D9EAF0"/>
                </a:solidFill>
                <a:latin typeface="Calibri" pitchFamily="34" charset="0"/>
                <a:ea typeface="Calibri" pitchFamily="34" charset="-122"/>
                <a:cs typeface="Calibri" pitchFamily="34" charset="-120"/>
              </a:rPr>
              <a:t>rotte API attive sul server</a:t>
            </a:r>
            <a:endParaRPr lang="en-US" sz="1000" dirty="0"/>
          </a:p>
        </p:txBody>
      </p:sp>
      <p:sp>
        <p:nvSpPr>
          <p:cNvPr id="14" name="Shape 11"/>
          <p:cNvSpPr/>
          <p:nvPr/>
        </p:nvSpPr>
        <p:spPr>
          <a:xfrm>
            <a:off x="822960" y="3657600"/>
            <a:ext cx="10515600" cy="2651760"/>
          </a:xfrm>
          <a:prstGeom prst="roundRect">
            <a:avLst>
              <a:gd name="adj" fmla="val 4138"/>
            </a:avLst>
          </a:prstGeom>
          <a:solidFill>
            <a:srgbClr val="072438"/>
          </a:solidFill>
          <a:ln/>
        </p:spPr>
      </p:sp>
      <p:sp>
        <p:nvSpPr>
          <p:cNvPr id="15" name="Text 12"/>
          <p:cNvSpPr txBox="1"/>
          <p:nvPr/>
        </p:nvSpPr>
        <p:spPr>
          <a:xfrm>
            <a:off x="1097280" y="3931920"/>
            <a:ext cx="9966960" cy="2194560"/>
          </a:xfrm>
          <a:prstGeom prst="rect">
            <a:avLst/>
          </a:prstGeom>
          <a:noFill/>
          <a:ln/>
        </p:spPr>
        <p:txBody>
          <a:bodyPr wrap="square" lIns="0" tIns="0" rIns="0" bIns="0" rtlCol="0" anchor="ctr"/>
          <a:lstStyle/>
          <a:p>
            <a:pPr indent="0" marL="0">
              <a:lnSpc>
                <a:spcPct val="125000"/>
              </a:lnSpc>
              <a:buNone/>
            </a:pPr>
            <a:r>
              <a:rPr lang="en-US" sz="1350" dirty="0">
                <a:solidFill>
                  <a:srgbClr val="D9EAF0"/>
                </a:solidFill>
                <a:latin typeface="Calibri" pitchFamily="34" charset="0"/>
                <a:ea typeface="Calibri" pitchFamily="34" charset="-122"/>
                <a:cs typeface="Calibri" pitchFamily="34" charset="-120"/>
              </a:rPr>
              <a:t>Arrivare in tre settimane da un’idea scritta su un foglio a un sito vero, non è stato scontato: ho dovuto rivedere più volte le mie scelte iniziali, e ho imparato che testare con attenzione, anche quando una funzione sembra già pronta, fa la differenza — l’ho capito bene negli ultimi giorni, trovando e correggendo due problemi che si vedevano solo online, a sito già pubblicato. Sono soddisfatto di essere arrivato in fondo all’obiettivo principale richiesto dall’azienda: il progetto è pronto per crescere con altre funzioni in futuro.</a:t>
            </a:r>
            <a:endParaRPr lang="en-US" sz="1350" dirty="0"/>
          </a:p>
        </p:txBody>
      </p:sp>
      <p:sp>
        <p:nvSpPr>
          <p:cNvPr id="16" name="Text 1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5677A"/>
                </a:solidFill>
                <a:latin typeface="Calibri" pitchFamily="34" charset="0"/>
                <a:ea typeface="Calibri" pitchFamily="34" charset="-122"/>
                <a:cs typeface="Calibri" pitchFamily="34" charset="-120"/>
              </a:rPr>
              <a:t>STAGE  ·  GESTIONE CERTIFICATI MEDICI</a:t>
            </a:r>
            <a:endParaRPr lang="en-US" sz="900" dirty="0"/>
          </a:p>
        </p:txBody>
      </p:sp>
      <p:sp>
        <p:nvSpPr>
          <p:cNvPr id="17" name="Text 14"/>
          <p:cNvSpPr txBox="1"/>
          <p:nvPr/>
        </p:nvSpPr>
        <p:spPr>
          <a:xfrm>
            <a:off x="11185855" y="6400800"/>
            <a:ext cx="457200" cy="274320"/>
          </a:xfrm>
          <a:prstGeom prst="rect">
            <a:avLst/>
          </a:prstGeom>
          <a:noFill/>
          <a:ln/>
        </p:spPr>
        <p:txBody>
          <a:bodyPr wrap="square" lIns="0" tIns="0" rIns="0" bIns="0" rtlCol="0" anchor="ctr"/>
          <a:lstStyle/>
          <a:p>
            <a:pPr algn="r" indent="0" marL="0">
              <a:buNone/>
            </a:pPr>
            <a:r>
              <a:rPr lang="en-US" sz="900" dirty="0">
                <a:solidFill>
                  <a:srgbClr val="5567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2026-09-21T11:50:57Z</dcterms:created>
  <dcterms:modified xsi:type="dcterms:W3CDTF">2026-09-21T11:50:57Z</dcterms:modified>
</cp:coreProperties>
</file>